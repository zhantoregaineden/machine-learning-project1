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a2917b1a6c41db" /><Relationship Type="http://schemas.openxmlformats.org/officeDocument/2006/relationships/extended-properties" Target="/docProps/app.xml" Id="Ra742b6f37c8b49ee" /><Relationship Type="http://schemas.openxmlformats.org/officeDocument/2006/relationships/officeDocument" Target="/ppt/presentation.xml" Id="R3c84636191784e71" /></Relationships>
</file>

<file path=ppt/presentation.xml><?xml version="1.0" encoding="utf-8"?>
<p:presentation xmlns:p="http://schemas.openxmlformats.org/presentationml/2006/main">
  <p:sldMasterIdLst>
    <p:sldMasterId xmlns:r="http://schemas.openxmlformats.org/officeDocument/2006/relationships" id="2147483648" r:id="R81dd07f8041f411c"/>
  </p:sldMasterIdLst>
  <p:notesMasterIdLst>
    <p:notesMasterId xmlns:r="http://schemas.openxmlformats.org/officeDocument/2006/relationships" r:id="Red166fb6ea78476a"/>
  </p:notesMasterIdLst>
  <p:sldIdLst>
    <p:sldId xmlns:r="http://schemas.openxmlformats.org/officeDocument/2006/relationships" id="256" r:id="Re5d696f8cf1a4336"/>
    <p:sldId xmlns:r="http://schemas.openxmlformats.org/officeDocument/2006/relationships" id="257" r:id="Ra02d30733e514ac6"/>
    <p:sldId xmlns:r="http://schemas.openxmlformats.org/officeDocument/2006/relationships" id="258" r:id="R27238f77a70044ff"/>
    <p:sldId xmlns:r="http://schemas.openxmlformats.org/officeDocument/2006/relationships" id="259" r:id="R5bae3a61d0964e4a"/>
    <p:sldId xmlns:r="http://schemas.openxmlformats.org/officeDocument/2006/relationships" id="260" r:id="R707b86de2e3e40b8"/>
    <p:sldId xmlns:r="http://schemas.openxmlformats.org/officeDocument/2006/relationships" id="261" r:id="Re9acb78459da4d5e"/>
    <p:sldId xmlns:r="http://schemas.openxmlformats.org/officeDocument/2006/relationships" id="262" r:id="Rcaa61f4d39a4420e"/>
    <p:sldId xmlns:r="http://schemas.openxmlformats.org/officeDocument/2006/relationships" id="263" r:id="Re312ba3b71a84bc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5a9f1eef704536" /><Relationship Type="http://schemas.openxmlformats.org/officeDocument/2006/relationships/slideMaster" Target="/ppt/slideMasters/slideMaster1.xml" Id="R81dd07f8041f411c" /><Relationship Type="http://schemas.openxmlformats.org/officeDocument/2006/relationships/notesMaster" Target="/ppt/notesMasters/notesMaster1.xml" Id="Red166fb6ea78476a" /><Relationship Type="http://schemas.openxmlformats.org/officeDocument/2006/relationships/presProps" Target="/ppt/presProps.xml" Id="R0d68a067ad4a4540" /><Relationship Type="http://schemas.openxmlformats.org/officeDocument/2006/relationships/tableStyles" Target="/ppt/tableStyles.xml" Id="Ra7b3c932d373416d" /><Relationship Type="http://schemas.openxmlformats.org/officeDocument/2006/relationships/slide" Target="/ppt/slides/slide1.xml" Id="Re5d696f8cf1a4336" /><Relationship Type="http://schemas.openxmlformats.org/officeDocument/2006/relationships/slide" Target="/ppt/slides/slide2.xml" Id="Ra02d30733e514ac6" /><Relationship Type="http://schemas.openxmlformats.org/officeDocument/2006/relationships/slide" Target="/ppt/slides/slide3.xml" Id="R27238f77a70044ff" /><Relationship Type="http://schemas.openxmlformats.org/officeDocument/2006/relationships/slide" Target="/ppt/slides/slide4.xml" Id="R5bae3a61d0964e4a" /><Relationship Type="http://schemas.openxmlformats.org/officeDocument/2006/relationships/slide" Target="/ppt/slides/slide5.xml" Id="R707b86de2e3e40b8" /><Relationship Type="http://schemas.openxmlformats.org/officeDocument/2006/relationships/slide" Target="/ppt/slides/slide6.xml" Id="Re9acb78459da4d5e" /><Relationship Type="http://schemas.openxmlformats.org/officeDocument/2006/relationships/slide" Target="/ppt/slides/slide7.xml" Id="Rcaa61f4d39a4420e" /><Relationship Type="http://schemas.openxmlformats.org/officeDocument/2006/relationships/slide" Target="/ppt/slides/slide8.xml" Id="Re312ba3b71a84b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0f59d1fcb845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74c18e79844fc9" /><Relationship Type="http://schemas.openxmlformats.org/officeDocument/2006/relationships/notesMaster" Target="/ppt/notesMasters/notesMaster1.xml" Id="R1721892b8f654e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909cdb04244d25" /><Relationship Type="http://schemas.openxmlformats.org/officeDocument/2006/relationships/notesMaster" Target="/ppt/notesMasters/notesMaster1.xml" Id="R864cbdafc7de4f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683abc25044206" /><Relationship Type="http://schemas.openxmlformats.org/officeDocument/2006/relationships/notesMaster" Target="/ppt/notesMasters/notesMaster1.xml" Id="R9ed316579f8849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e2061924424326" /><Relationship Type="http://schemas.openxmlformats.org/officeDocument/2006/relationships/notesMaster" Target="/ppt/notesMasters/notesMaster1.xml" Id="R3b8eadd3e8234a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b007a851db4570" /><Relationship Type="http://schemas.openxmlformats.org/officeDocument/2006/relationships/notesMaster" Target="/ppt/notesMasters/notesMaster1.xml" Id="R67b8a66fc4804d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5cb18bbfc44123" /><Relationship Type="http://schemas.openxmlformats.org/officeDocument/2006/relationships/notesMaster" Target="/ppt/notesMasters/notesMaster1.xml" Id="R4aa540c8b18c46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149072e69c478e" /><Relationship Type="http://schemas.openxmlformats.org/officeDocument/2006/relationships/notesMaster" Target="/ppt/notesMasters/notesMaster1.xml" Id="Rabc2a83be18943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6e14b7ba6845f1" /><Relationship Type="http://schemas.openxmlformats.org/officeDocument/2006/relationships/notesMaster" Target="/ppt/notesMasters/notesMaster1.xml" Id="R4be771da2e4947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in one or two sentences. Say that this is a regression task because the goal is to predict a continuous sale price. Mention that the slide shows the final validation RMSE for the selected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dataset size: 1,314 training rows and 146 test rows. Say that SalePrice is the target. Mention that Id was preserved for output but excluded from modeling.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each chart briefly. The target distribution is right-skewed. Higher OverallQual generally means higher price. GrLivArea has a positive relationship with price, but some large homes are still difficult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preprocessing pipeline. Missing categorical values that mean no basement, no garage, no pool, or no fence were handled as absence values. Validation data did not fit preprocessing, which prevents 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why several models were compared. The Dummy Regressor is the baseline. Ridge gives a linear benchmark. Tree models handle nonlinear patterns and interactions in tabular housing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MAE, RMSE, and R2. Lower MAE and RMSE are better. Higher R2 is better. Extra Trees ranked first by RMSE with MAE $20,128.11, RMSE $43,994.54, and R2 0.7399.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Extra Trees in simple terms: it averages many randomized decision trees. Use the actual versus predicted chart to show that points near the diagonal are good predictions. Use feature importance as model evidence, not as causal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the result. Extra Trees was selected by validation RMSE. Mention limitations such as rare expensive homes and possible future improvements like cross-validation and extra feature engineering. End by inviting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6ed766e4604a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4292714ae04c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7a9613097d45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5e5785867d442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6a190a667e4f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7ea2ca742546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52386B-BB65-4AEF-9D7C-D632F71998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6027A13-5E16-47F0-A9C7-5570C2894F8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63E2B8-9248-4925-AE16-2C10C66CB9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CBE45D-1460-404E-9666-9AE93165C6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17180BA-244B-4E8A-A044-4A7C2205DB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17FEA19-8D71-4F03-96B0-08B5199E22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7B93F9-0141-4D46-8B88-313C175BA4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DA9872-D2B1-4ECA-A780-DEA1145D21C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FC2C75-36E0-4865-9B99-FD3E1A9B53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9BA64E-51D3-4BF4-A19A-C66F2FD97E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a14a31fda24b9e" /><Relationship Type="http://schemas.openxmlformats.org/officeDocument/2006/relationships/slideLayout" Target="/ppt/slideLayouts/slideLayout1.xml" Id="R0a12799f843b4724" /><Relationship Type="http://schemas.openxmlformats.org/officeDocument/2006/relationships/slideLayout" Target="/ppt/slideLayouts/slideLayout2.xml" Id="R9f3d1f02e4db45fc" /><Relationship Type="http://schemas.openxmlformats.org/officeDocument/2006/relationships/slideLayout" Target="/ppt/slideLayouts/slideLayout3.xml" Id="R89155be2b54c495c" /><Relationship Type="http://schemas.openxmlformats.org/officeDocument/2006/relationships/slideLayout" Target="/ppt/slideLayouts/slideLayout4.xml" Id="R26f9ff49c31e417a" /><Relationship Type="http://schemas.openxmlformats.org/officeDocument/2006/relationships/slideLayout" Target="/ppt/slideLayouts/slideLayout5.xml" Id="R1002f9d3234c4954" /><Relationship Type="http://schemas.openxmlformats.org/officeDocument/2006/relationships/slideLayout" Target="/ppt/slideLayouts/slideLayout6.xml" Id="Rbf5bd1b4c2c74a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12799f843b4724"/>
    <p:sldLayoutId xmlns:r="http://schemas.openxmlformats.org/officeDocument/2006/relationships" id="2147483650" r:id="R9f3d1f02e4db45fc"/>
    <p:sldLayoutId xmlns:r="http://schemas.openxmlformats.org/officeDocument/2006/relationships" id="2147483651" r:id="R89155be2b54c495c"/>
    <p:sldLayoutId xmlns:r="http://schemas.openxmlformats.org/officeDocument/2006/relationships" id="2147483652" r:id="R26f9ff49c31e417a"/>
    <p:sldLayoutId xmlns:r="http://schemas.openxmlformats.org/officeDocument/2006/relationships" id="2147483653" r:id="R1002f9d3234c4954"/>
    <p:sldLayoutId xmlns:r="http://schemas.openxmlformats.org/officeDocument/2006/relationships" id="2147483654" r:id="Rbf5bd1b4c2c74a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471ea1f69b44d6" /><Relationship Type="http://schemas.openxmlformats.org/officeDocument/2006/relationships/notesSlide" Target="/ppt/notesSlides/notesSlide1.xml" Id="R9e71fccb694c42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18a4b72ed841fe" /><Relationship Type="http://schemas.openxmlformats.org/officeDocument/2006/relationships/notesSlide" Target="/ppt/notesSlides/notesSlide2.xml" Id="R766fc916f48448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cbb46fe757e413b" /><Relationship Type="http://schemas.openxmlformats.org/officeDocument/2006/relationships/image" Target="/ppt/media/image.png" Id="R7fa01e0dff8c44fa" /><Relationship Type="http://schemas.openxmlformats.org/officeDocument/2006/relationships/image" Target="/ppt/media/image2.png" Id="Rb7308c9f03044795" /><Relationship Type="http://schemas.openxmlformats.org/officeDocument/2006/relationships/image" Target="/ppt/media/image3.png" Id="R75d0a2579f494554" /><Relationship Type="http://schemas.openxmlformats.org/officeDocument/2006/relationships/image" Target="/ppt/media/image4.png" Id="R8f4bfef687a140e7" /><Relationship Type="http://schemas.openxmlformats.org/officeDocument/2006/relationships/notesSlide" Target="/ppt/notesSlides/notesSlide3.xml" Id="R138e10d6f1d447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a81c78c61c41b6" /><Relationship Type="http://schemas.openxmlformats.org/officeDocument/2006/relationships/notesSlide" Target="/ppt/notesSlides/notesSlide4.xml" Id="Rf75b00411b3542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257e9253b2a4f39" /><Relationship Type="http://schemas.openxmlformats.org/officeDocument/2006/relationships/notesSlide" Target="/ppt/notesSlides/notesSlide5.xml" Id="R988bd30458bc4a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176f798a93d4de0" /><Relationship Type="http://schemas.openxmlformats.org/officeDocument/2006/relationships/image" Target="/ppt/media/image5.png" Id="R75edb3825e6340c7" /><Relationship Type="http://schemas.openxmlformats.org/officeDocument/2006/relationships/notesSlide" Target="/ppt/notesSlides/notesSlide6.xml" Id="Rd4f6aa9d10f34f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340597f1eee497d" /><Relationship Type="http://schemas.openxmlformats.org/officeDocument/2006/relationships/image" Target="/ppt/media/image6.png" Id="Ra8979ca339ff4d01" /><Relationship Type="http://schemas.openxmlformats.org/officeDocument/2006/relationships/image" Target="/ppt/media/image7.png" Id="R0cf05d5e8cde4716" /><Relationship Type="http://schemas.openxmlformats.org/officeDocument/2006/relationships/notesSlide" Target="/ppt/notesSlides/notesSlide7.xml" Id="Rb8449e3b162741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9d107ea04641e1" /><Relationship Type="http://schemas.openxmlformats.org/officeDocument/2006/relationships/notesSlide" Target="/ppt/notesSlides/notesSlide8.xml" Id="R0aaee3297d214f7b" /></Relationships>
</file>

<file path=ppt/slides/slide1.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B0485BD-FBFC-4A55-9E02-FC9D11A60153}"/>
              </a:ext>
            </a:extLst>
          </p:cNvPr>
          <p:cNvSpPr>
            <a:spLocks xmlns:a="http://schemas.openxmlformats.org/drawingml/2006/main" noGrp="1"/>
          </p:cNvSpPr>
          <p:nvPr/>
        </p:nvSpPr>
        <p:spPr>
          <a:xfrm xmlns:a="http://schemas.openxmlformats.org/drawingml/2006/main">
            <a:off x="685800" y="1219200"/>
            <a:ext cx="6286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050" b="1" i="0">
                <a:solidFill>
                  <a:srgbClr val="F8FBFF"/>
                </a:solidFill>
              </a:defRPr>
            </a:defPPr>
          </a:lstStyle>
          <a:p xmlns:a="http://schemas.openxmlformats.org/drawingml/2006/main">
            <a:pPr algn="l">
              <a:defRPr sz="4050" b="1" i="0">
                <a:solidFill>
                  <a:srgbClr val="F8FBFF"/>
                </a:solidFill>
              </a:defRPr>
            </a:pPr>
            <a:r>
              <a:rPr sz="4050" b="1" i="0">
                <a:solidFill>
                  <a:srgbClr val="F8FBFF"/>
                </a:solidFill>
              </a:rPr>
              <a:t>House Price</a:t>
            </a:r>
          </a:p>
          <a:p xmlns:a="http://schemas.openxmlformats.org/drawingml/2006/main">
            <a:pPr algn="l">
              <a:defRPr sz="4050" b="1" i="0">
                <a:solidFill>
                  <a:srgbClr val="F8FBFF"/>
                </a:solidFill>
              </a:defRPr>
            </a:pPr>
            <a:r>
              <a:rPr sz="4050" b="1" i="0">
                <a:solidFill>
                  <a:srgbClr val="F8FBFF"/>
                </a:solidFill>
              </a:rPr>
              <a:t>Prediction</a:t>
            </a:r>
          </a:p>
        </p:txBody>
      </p:sp>
      <p:sp>
        <p:nvSpPr>
          <p:cNvPr id="2" name="">
            <a:extLst xmlns:a="http://schemas.openxmlformats.org/drawingml/2006/main">
              <a:ext uri="{FF2B5EF4-FFF2-40B4-BE49-F238E27FC236}">
                <a16:creationId xmlns:a16="http://schemas.microsoft.com/office/drawing/2014/main" id="{91048432-1144-4C2B-8A85-195D4C57200C}"/>
              </a:ext>
            </a:extLst>
          </p:cNvPr>
          <p:cNvSpPr>
            <a:spLocks xmlns:a="http://schemas.openxmlformats.org/drawingml/2006/main" noGrp="1"/>
          </p:cNvSpPr>
          <p:nvPr/>
        </p:nvSpPr>
        <p:spPr>
          <a:xfrm xmlns:a="http://schemas.openxmlformats.org/drawingml/2006/main">
            <a:off x="723900" y="3086100"/>
            <a:ext cx="24765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sp>
        <p:nvSpPr>
          <p:cNvPr id="3" name="">
            <a:extLst xmlns:a="http://schemas.openxmlformats.org/drawingml/2006/main">
              <a:ext uri="{FF2B5EF4-FFF2-40B4-BE49-F238E27FC236}">
                <a16:creationId xmlns:a16="http://schemas.microsoft.com/office/drawing/2014/main" id="{5C7B3097-407D-4AD2-BE9E-9132EE131C1D}"/>
              </a:ext>
            </a:extLst>
          </p:cNvPr>
          <p:cNvSpPr>
            <a:spLocks xmlns:a="http://schemas.openxmlformats.org/drawingml/2006/main" noGrp="1"/>
          </p:cNvSpPr>
          <p:nvPr/>
        </p:nvSpPr>
        <p:spPr>
          <a:xfrm xmlns:a="http://schemas.openxmlformats.org/drawingml/2006/main">
            <a:off x="723900" y="3352800"/>
            <a:ext cx="495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i="0">
                <a:solidFill>
                  <a:srgbClr val="18C6E8"/>
                </a:solidFill>
              </a:defRPr>
            </a:defPPr>
          </a:lstStyle>
          <a:p xmlns:a="http://schemas.openxmlformats.org/drawingml/2006/main">
            <a:pPr algn="l">
              <a:defRPr sz="1800" b="0" i="0">
                <a:solidFill>
                  <a:srgbClr val="18C6E8"/>
                </a:solidFill>
              </a:defRPr>
            </a:pPr>
            <a:r>
              <a:rPr sz="1800" b="0" i="0">
                <a:solidFill>
                  <a:srgbClr val="18C6E8"/>
                </a:solidFill>
              </a:rPr>
              <a:t>Machine Learning Project</a:t>
            </a:r>
          </a:p>
        </p:txBody>
      </p:sp>
      <p:sp>
        <p:nvSpPr>
          <p:cNvPr id="4" name="">
            <a:extLst xmlns:a="http://schemas.openxmlformats.org/drawingml/2006/main">
              <a:ext uri="{FF2B5EF4-FFF2-40B4-BE49-F238E27FC236}">
                <a16:creationId xmlns:a16="http://schemas.microsoft.com/office/drawing/2014/main" id="{8751F2FA-5CA3-4CD5-8996-89270B03DAE8}"/>
              </a:ext>
            </a:extLst>
          </p:cNvPr>
          <p:cNvSpPr>
            <a:spLocks xmlns:a="http://schemas.openxmlformats.org/drawingml/2006/main" noGrp="1"/>
          </p:cNvSpPr>
          <p:nvPr/>
        </p:nvSpPr>
        <p:spPr>
          <a:xfrm xmlns:a="http://schemas.openxmlformats.org/drawingml/2006/main">
            <a:off x="723900" y="38862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9FB3C8"/>
                </a:solidFill>
              </a:defRPr>
            </a:defPPr>
          </a:lstStyle>
          <a:p xmlns:a="http://schemas.openxmlformats.org/drawingml/2006/main">
            <a:pPr algn="l">
              <a:defRPr sz="1500" b="0" i="0">
                <a:solidFill>
                  <a:srgbClr val="9FB3C8"/>
                </a:solidFill>
              </a:defRPr>
            </a:pPr>
            <a:r>
              <a:rPr sz="1500" b="0" i="0">
                <a:solidFill>
                  <a:srgbClr val="9FB3C8"/>
                </a:solidFill>
              </a:rPr>
              <a:t>Presented by: [Student Name]</a:t>
            </a:r>
          </a:p>
        </p:txBody>
      </p:sp>
      <p:sp>
        <p:nvSpPr>
          <p:cNvPr id="5" name="">
            <a:extLst xmlns:a="http://schemas.openxmlformats.org/drawingml/2006/main">
              <a:ext uri="{FF2B5EF4-FFF2-40B4-BE49-F238E27FC236}">
                <a16:creationId xmlns:a16="http://schemas.microsoft.com/office/drawing/2014/main" id="{3DD1DB26-5BD4-4334-8312-C0079F693B42}"/>
              </a:ext>
            </a:extLst>
          </p:cNvPr>
          <p:cNvSpPr>
            <a:spLocks xmlns:a="http://schemas.openxmlformats.org/drawingml/2006/main" noGrp="1"/>
          </p:cNvSpPr>
          <p:nvPr/>
        </p:nvSpPr>
        <p:spPr>
          <a:xfrm xmlns:a="http://schemas.openxmlformats.org/drawingml/2006/main">
            <a:off x="7239000" y="1104900"/>
            <a:ext cx="3429000" cy="3429000"/>
          </a:xfrm>
          <a:prstGeom xmlns:a="http://schemas.openxmlformats.org/drawingml/2006/main" prst="roundRect">
            <a:avLst>
              <a:gd name="adj" fmla="val 4444"/>
            </a:avLst>
          </a:prstGeom>
          <a:solidFill xmlns:a="http://schemas.openxmlformats.org/drawingml/2006/main">
            <a:srgbClr val="081A30"/>
          </a:solidFill>
          <a:ln xmlns:a="http://schemas.openxmlformats.org/drawingml/2006/main" w="11430">
            <a:solidFill>
              <a:srgbClr val="1D466A"/>
            </a:solidFill>
            <a:prstDash val="solid"/>
          </a:ln>
        </p:spPr>
      </p:sp>
      <p:sp>
        <p:nvSpPr>
          <p:cNvPr id="6" name="">
            <a:extLst xmlns:a="http://schemas.openxmlformats.org/drawingml/2006/main">
              <a:ext uri="{FF2B5EF4-FFF2-40B4-BE49-F238E27FC236}">
                <a16:creationId xmlns:a16="http://schemas.microsoft.com/office/drawing/2014/main" id="{19A508D8-9C9D-4D38-8DE3-8ED74AD5D842}"/>
              </a:ext>
            </a:extLst>
          </p:cNvPr>
          <p:cNvSpPr>
            <a:spLocks xmlns:a="http://schemas.openxmlformats.org/drawingml/2006/main" noGrp="1"/>
          </p:cNvSpPr>
          <p:nvPr/>
        </p:nvSpPr>
        <p:spPr>
          <a:xfrm xmlns:a="http://schemas.openxmlformats.org/drawingml/2006/main">
            <a:off x="7734300" y="1762125"/>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i="0">
                <a:solidFill>
                  <a:srgbClr val="18C6E8"/>
                </a:solidFill>
              </a:defRPr>
            </a:defPPr>
          </a:lstStyle>
          <a:p xmlns:a="http://schemas.openxmlformats.org/drawingml/2006/main">
            <a:pPr algn="ctr">
              <a:defRPr sz="2550" b="1" i="0">
                <a:solidFill>
                  <a:srgbClr val="18C6E8"/>
                </a:solidFill>
              </a:defRPr>
            </a:pPr>
            <a:r>
              <a:rPr sz="2550" b="1" i="0">
                <a:solidFill>
                  <a:srgbClr val="18C6E8"/>
                </a:solidFill>
              </a:rPr>
              <a:t>Regression</a:t>
            </a:r>
          </a:p>
        </p:txBody>
      </p:sp>
      <p:sp>
        <p:nvSpPr>
          <p:cNvPr id="7" name="">
            <a:extLst xmlns:a="http://schemas.openxmlformats.org/drawingml/2006/main">
              <a:ext uri="{FF2B5EF4-FFF2-40B4-BE49-F238E27FC236}">
                <a16:creationId xmlns:a16="http://schemas.microsoft.com/office/drawing/2014/main" id="{B55B32D1-3D61-48F2-AF12-9240CF70A077}"/>
              </a:ext>
            </a:extLst>
          </p:cNvPr>
          <p:cNvSpPr>
            <a:spLocks xmlns:a="http://schemas.openxmlformats.org/drawingml/2006/main" noGrp="1"/>
          </p:cNvSpPr>
          <p:nvPr/>
        </p:nvSpPr>
        <p:spPr>
          <a:xfrm xmlns:a="http://schemas.openxmlformats.org/drawingml/2006/main">
            <a:off x="7734300" y="240030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0" i="0">
                <a:solidFill>
                  <a:srgbClr val="F8FBFF"/>
                </a:solidFill>
              </a:defRPr>
            </a:defPPr>
          </a:lstStyle>
          <a:p xmlns:a="http://schemas.openxmlformats.org/drawingml/2006/main">
            <a:pPr algn="ctr">
              <a:defRPr sz="1650" b="0" i="0">
                <a:solidFill>
                  <a:srgbClr val="F8FBFF"/>
                </a:solidFill>
              </a:defRPr>
            </a:pPr>
            <a:r>
              <a:rPr sz="1650" b="0" i="0">
                <a:solidFill>
                  <a:srgbClr val="F8FBFF"/>
                </a:solidFill>
              </a:rPr>
              <a:t>Predict a continuous sale price from structured house features</a:t>
            </a:r>
          </a:p>
        </p:txBody>
      </p:sp>
      <p:sp>
        <p:nvSpPr>
          <p:cNvPr id="8" name="">
            <a:extLst xmlns:a="http://schemas.openxmlformats.org/drawingml/2006/main">
              <a:ext uri="{FF2B5EF4-FFF2-40B4-BE49-F238E27FC236}">
                <a16:creationId xmlns:a16="http://schemas.microsoft.com/office/drawing/2014/main" id="{2A207F93-1DC0-4B37-9D53-16307866F7A6}"/>
              </a:ext>
            </a:extLst>
          </p:cNvPr>
          <p:cNvSpPr>
            <a:spLocks xmlns:a="http://schemas.openxmlformats.org/drawingml/2006/main" noGrp="1"/>
          </p:cNvSpPr>
          <p:nvPr/>
        </p:nvSpPr>
        <p:spPr>
          <a:xfrm xmlns:a="http://schemas.openxmlformats.org/drawingml/2006/main">
            <a:off x="8039100" y="36385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0" i="0">
                <a:solidFill>
                  <a:srgbClr val="9FB3C8"/>
                </a:solidFill>
              </a:defRPr>
            </a:defPPr>
          </a:lstStyle>
          <a:p xmlns:a="http://schemas.openxmlformats.org/drawingml/2006/main">
            <a:pPr algn="ctr">
              <a:defRPr sz="1275" b="0" i="0">
                <a:solidFill>
                  <a:srgbClr val="9FB3C8"/>
                </a:solidFill>
              </a:defRPr>
            </a:pPr>
            <a:r>
              <a:rPr sz="1275" b="0" i="0">
                <a:solidFill>
                  <a:srgbClr val="9FB3C8"/>
                </a:solidFill>
              </a:rPr>
              <a:t>Validation RMSE</a:t>
            </a:r>
          </a:p>
        </p:txBody>
      </p:sp>
      <p:sp>
        <p:nvSpPr>
          <p:cNvPr id="9" name="">
            <a:extLst xmlns:a="http://schemas.openxmlformats.org/drawingml/2006/main">
              <a:ext uri="{FF2B5EF4-FFF2-40B4-BE49-F238E27FC236}">
                <a16:creationId xmlns:a16="http://schemas.microsoft.com/office/drawing/2014/main" id="{4AA108D8-2FEB-498E-A7B6-22CF6ED99108}"/>
              </a:ext>
            </a:extLst>
          </p:cNvPr>
          <p:cNvSpPr>
            <a:spLocks xmlns:a="http://schemas.openxmlformats.org/drawingml/2006/main" noGrp="1"/>
          </p:cNvSpPr>
          <p:nvPr/>
        </p:nvSpPr>
        <p:spPr>
          <a:xfrm xmlns:a="http://schemas.openxmlformats.org/drawingml/2006/main">
            <a:off x="7753350" y="394335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i="0">
                <a:solidFill>
                  <a:srgbClr val="72E6AC"/>
                </a:solidFill>
              </a:defRPr>
            </a:defPPr>
          </a:lstStyle>
          <a:p xmlns:a="http://schemas.openxmlformats.org/drawingml/2006/main">
            <a:pPr algn="ctr">
              <a:defRPr sz="2550" b="1" i="0">
                <a:solidFill>
                  <a:srgbClr val="72E6AC"/>
                </a:solidFill>
              </a:defRPr>
            </a:pPr>
            <a:r>
              <a:rPr sz="2550" b="1" i="0">
                <a:solidFill>
                  <a:srgbClr val="72E6AC"/>
                </a:solidFill>
              </a:rPr>
              <a:t>$43,995</a:t>
            </a:r>
          </a:p>
        </p:txBody>
      </p:sp>
    </p:spTree>
    <p:extLst>
      <p:ext uri="{BB962C8B-B14F-4D97-AF65-F5344CB8AC3E}">
        <p14:creationId xmlns:p14="http://schemas.microsoft.com/office/powerpoint/2010/main" val="986913835"/>
      </p:ext>
    </p:extLst>
  </p:cSld>
</p:sld>
</file>

<file path=ppt/slides/slide2.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9A7DA17-0AC5-40E2-B955-61E83B4169A0}"/>
              </a:ext>
            </a:extLst>
          </p:cNvPr>
          <p:cNvSpPr>
            <a:spLocks xmlns:a="http://schemas.openxmlformats.org/drawingml/2006/main" noGrp="1"/>
          </p:cNvSpPr>
          <p:nvPr/>
        </p:nvSpPr>
        <p:spPr>
          <a:xfrm xmlns:a="http://schemas.openxmlformats.org/drawingml/2006/main">
            <a:off x="571500" y="381000"/>
            <a:ext cx="838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i="0">
                <a:solidFill>
                  <a:srgbClr val="F8FBFF"/>
                </a:solidFill>
              </a:defRPr>
            </a:defPPr>
          </a:lstStyle>
          <a:p xmlns:a="http://schemas.openxmlformats.org/drawingml/2006/main">
            <a:pPr algn="l">
              <a:defRPr sz="2400" b="1" i="0">
                <a:solidFill>
                  <a:srgbClr val="F8FBFF"/>
                </a:solidFill>
              </a:defRPr>
            </a:pPr>
            <a:r>
              <a:rPr sz="2400" b="1" i="0">
                <a:solidFill>
                  <a:srgbClr val="F8FBFF"/>
                </a:solidFill>
              </a:rPr>
              <a:t>Problem and Dataset</a:t>
            </a:r>
          </a:p>
        </p:txBody>
      </p:sp>
      <p:sp>
        <p:nvSpPr>
          <p:cNvPr id="2" name="">
            <a:extLst xmlns:a="http://schemas.openxmlformats.org/drawingml/2006/main">
              <a:ext uri="{FF2B5EF4-FFF2-40B4-BE49-F238E27FC236}">
                <a16:creationId xmlns:a16="http://schemas.microsoft.com/office/drawing/2014/main" id="{CDC12A1A-9A28-4D64-9A00-C060CA74B4CF}"/>
              </a:ext>
            </a:extLst>
          </p:cNvPr>
          <p:cNvSpPr>
            <a:spLocks xmlns:a="http://schemas.openxmlformats.org/drawingml/2006/main" noGrp="1"/>
          </p:cNvSpPr>
          <p:nvPr/>
        </p:nvSpPr>
        <p:spPr>
          <a:xfrm xmlns:a="http://schemas.openxmlformats.org/drawingml/2006/main">
            <a:off x="571500" y="952500"/>
            <a:ext cx="17145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sp>
        <p:nvSpPr>
          <p:cNvPr id="3" name="">
            <a:extLst xmlns:a="http://schemas.openxmlformats.org/drawingml/2006/main">
              <a:ext uri="{FF2B5EF4-FFF2-40B4-BE49-F238E27FC236}">
                <a16:creationId xmlns:a16="http://schemas.microsoft.com/office/drawing/2014/main" id="{3C3EA71E-74D6-4191-AD0C-A18C33F0D8A5}"/>
              </a:ext>
            </a:extLst>
          </p:cNvPr>
          <p:cNvSpPr>
            <a:spLocks xmlns:a="http://schemas.openxmlformats.org/drawingml/2006/main" noGrp="1"/>
          </p:cNvSpPr>
          <p:nvPr/>
        </p:nvSpPr>
        <p:spPr>
          <a:xfrm xmlns:a="http://schemas.openxmlformats.org/drawingml/2006/main">
            <a:off x="666750" y="12382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i="0">
                <a:solidFill>
                  <a:srgbClr val="18C6E8"/>
                </a:solidFill>
              </a:defRPr>
            </a:defPPr>
          </a:lstStyle>
          <a:p xmlns:a="http://schemas.openxmlformats.org/drawingml/2006/main">
            <a:pPr algn="l">
              <a:defRPr sz="1350" b="1" i="0">
                <a:solidFill>
                  <a:srgbClr val="18C6E8"/>
                </a:solidFill>
              </a:defRPr>
            </a:pPr>
            <a:r>
              <a:rPr sz="1350" b="1" i="0">
                <a:solidFill>
                  <a:srgbClr val="18C6E8"/>
                </a:solidFill>
              </a:rPr>
              <a:t>Objective</a:t>
            </a:r>
          </a:p>
        </p:txBody>
      </p:sp>
      <p:sp>
        <p:nvSpPr>
          <p:cNvPr id="4" name="">
            <a:extLst xmlns:a="http://schemas.openxmlformats.org/drawingml/2006/main">
              <a:ext uri="{FF2B5EF4-FFF2-40B4-BE49-F238E27FC236}">
                <a16:creationId xmlns:a16="http://schemas.microsoft.com/office/drawing/2014/main" id="{C6318C88-2B6C-4544-8FCD-A4AC2673EFA7}"/>
              </a:ext>
            </a:extLst>
          </p:cNvPr>
          <p:cNvSpPr>
            <a:spLocks xmlns:a="http://schemas.openxmlformats.org/drawingml/2006/main" noGrp="1"/>
          </p:cNvSpPr>
          <p:nvPr/>
        </p:nvSpPr>
        <p:spPr>
          <a:xfrm xmlns:a="http://schemas.openxmlformats.org/drawingml/2006/main">
            <a:off x="666750" y="1581150"/>
            <a:ext cx="4762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i="0">
                <a:solidFill>
                  <a:srgbClr val="F8FBFF"/>
                </a:solidFill>
              </a:defRPr>
            </a:defPPr>
          </a:lstStyle>
          <a:p xmlns:a="http://schemas.openxmlformats.org/drawingml/2006/main">
            <a:pPr algn="l">
              <a:defRPr sz="1800" b="0" i="0">
                <a:solidFill>
                  <a:srgbClr val="F8FBFF"/>
                </a:solidFill>
              </a:defRPr>
            </a:pPr>
            <a:r>
              <a:rPr sz="1800" b="0" i="0">
                <a:solidFill>
                  <a:srgbClr val="F8FBFF"/>
                </a:solidFill>
              </a:rPr>
              <a:t>Predict residential property sale prices from house characteristics.</a:t>
            </a:r>
          </a:p>
        </p:txBody>
      </p:sp>
      <p:sp>
        <p:nvSpPr>
          <p:cNvPr id="5" name="">
            <a:extLst xmlns:a="http://schemas.openxmlformats.org/drawingml/2006/main">
              <a:ext uri="{FF2B5EF4-FFF2-40B4-BE49-F238E27FC236}">
                <a16:creationId xmlns:a16="http://schemas.microsoft.com/office/drawing/2014/main" id="{7F0987F7-8569-405A-8BC4-36A5D9DB2F93}"/>
              </a:ext>
            </a:extLst>
          </p:cNvPr>
          <p:cNvSpPr>
            <a:spLocks xmlns:a="http://schemas.openxmlformats.org/drawingml/2006/main" noGrp="1"/>
          </p:cNvSpPr>
          <p:nvPr/>
        </p:nvSpPr>
        <p:spPr>
          <a:xfrm xmlns:a="http://schemas.openxmlformats.org/drawingml/2006/main">
            <a:off x="666750" y="2533650"/>
            <a:ext cx="4857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F8FBFF"/>
                </a:solidFill>
              </a:defRPr>
            </a:defPPr>
          </a:lstStyle>
          <a:p xmlns:a="http://schemas.openxmlformats.org/drawingml/2006/main">
            <a:pPr algn="l">
              <a:defRPr sz="1425" b="0" i="0">
                <a:solidFill>
                  <a:srgbClr val="F8FBFF"/>
                </a:solidFill>
              </a:defRPr>
            </a:pPr>
            <a:r>
              <a:rPr sz="1425" b="0" i="0">
                <a:solidFill>
                  <a:srgbClr val="F8FBFF"/>
                </a:solidFill>
              </a:rPr>
              <a:t>• Supervised regression task</a:t>
            </a:r>
          </a:p>
          <a:p xmlns:a="http://schemas.openxmlformats.org/drawingml/2006/main">
            <a:pPr algn="l">
              <a:defRPr sz="1425" b="0" i="0">
                <a:solidFill>
                  <a:srgbClr val="F8FBFF"/>
                </a:solidFill>
              </a:defRPr>
            </a:pPr>
            <a:r>
              <a:rPr sz="1425" b="0" i="0">
                <a:solidFill>
                  <a:srgbClr val="F8FBFF"/>
                </a:solidFill>
              </a:rPr>
              <a:t>• Target variable: SalePrice</a:t>
            </a:r>
          </a:p>
          <a:p xmlns:a="http://schemas.openxmlformats.org/drawingml/2006/main">
            <a:pPr algn="l">
              <a:defRPr sz="1425" b="0" i="0">
                <a:solidFill>
                  <a:srgbClr val="F8FBFF"/>
                </a:solidFill>
              </a:defRPr>
            </a:pPr>
            <a:r>
              <a:rPr sz="1425" b="0" i="0">
                <a:solidFill>
                  <a:srgbClr val="F8FBFF"/>
                </a:solidFill>
              </a:rPr>
              <a:t>• Id kept for output, excluded from model features</a:t>
            </a:r>
          </a:p>
          <a:p xmlns:a="http://schemas.openxmlformats.org/drawingml/2006/main">
            <a:pPr algn="l">
              <a:defRPr sz="1425" b="0" i="0">
                <a:solidFill>
                  <a:srgbClr val="F8FBFF"/>
                </a:solidFill>
              </a:defRPr>
            </a:pPr>
            <a:r>
              <a:rPr sz="1425" b="0" i="0">
                <a:solidFill>
                  <a:srgbClr val="F8FBFF"/>
                </a:solidFill>
              </a:rPr>
              <a:t>• Test rows preserved in original order</a:t>
            </a:r>
          </a:p>
        </p:txBody>
      </p:sp>
      <p:sp>
        <p:nvSpPr>
          <p:cNvPr id="6" name="">
            <a:extLst xmlns:a="http://schemas.openxmlformats.org/drawingml/2006/main">
              <a:ext uri="{FF2B5EF4-FFF2-40B4-BE49-F238E27FC236}">
                <a16:creationId xmlns:a16="http://schemas.microsoft.com/office/drawing/2014/main" id="{FA5BED6D-E72D-4F3E-9947-1E6272EF396B}"/>
              </a:ext>
            </a:extLst>
          </p:cNvPr>
          <p:cNvSpPr>
            <a:spLocks xmlns:a="http://schemas.openxmlformats.org/drawingml/2006/main" noGrp="1"/>
          </p:cNvSpPr>
          <p:nvPr/>
        </p:nvSpPr>
        <p:spPr>
          <a:xfrm xmlns:a="http://schemas.openxmlformats.org/drawingml/2006/main">
            <a:off x="6572250" y="1257300"/>
            <a:ext cx="2000250" cy="971550"/>
          </a:xfrm>
          <a:prstGeom xmlns:a="http://schemas.openxmlformats.org/drawingml/2006/main" prst="roundRect">
            <a:avLst>
              <a:gd name="adj" fmla="val 7843"/>
            </a:avLst>
          </a:prstGeom>
          <a:solidFill xmlns:a="http://schemas.openxmlformats.org/drawingml/2006/main">
            <a:srgbClr val="081A30"/>
          </a:solidFill>
          <a:ln xmlns:a="http://schemas.openxmlformats.org/drawingml/2006/main" w="11430">
            <a:solidFill>
              <a:srgbClr val="1F4E79"/>
            </a:solidFill>
            <a:prstDash val="solid"/>
          </a:ln>
        </p:spPr>
      </p:sp>
      <p:sp>
        <p:nvSpPr>
          <p:cNvPr id="7" name="">
            <a:extLst xmlns:a="http://schemas.openxmlformats.org/drawingml/2006/main">
              <a:ext uri="{FF2B5EF4-FFF2-40B4-BE49-F238E27FC236}">
                <a16:creationId xmlns:a16="http://schemas.microsoft.com/office/drawing/2014/main" id="{88D200BA-1AE3-4CB4-9E42-D0046179580E}"/>
              </a:ext>
            </a:extLst>
          </p:cNvPr>
          <p:cNvSpPr>
            <a:spLocks xmlns:a="http://schemas.openxmlformats.org/drawingml/2006/main" noGrp="1"/>
          </p:cNvSpPr>
          <p:nvPr/>
        </p:nvSpPr>
        <p:spPr>
          <a:xfrm xmlns:a="http://schemas.openxmlformats.org/drawingml/2006/main">
            <a:off x="6743700" y="141922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i="0">
                <a:solidFill>
                  <a:srgbClr val="18C6E8"/>
                </a:solidFill>
              </a:defRPr>
            </a:defPPr>
          </a:lstStyle>
          <a:p xmlns:a="http://schemas.openxmlformats.org/drawingml/2006/main">
            <a:pPr algn="l">
              <a:defRPr sz="2025" b="1" i="0">
                <a:solidFill>
                  <a:srgbClr val="18C6E8"/>
                </a:solidFill>
              </a:defRPr>
            </a:pPr>
            <a:r>
              <a:rPr sz="2025" b="1" i="0">
                <a:solidFill>
                  <a:srgbClr val="18C6E8"/>
                </a:solidFill>
              </a:rPr>
              <a:t>1,314</a:t>
            </a:r>
          </a:p>
        </p:txBody>
      </p:sp>
      <p:sp>
        <p:nvSpPr>
          <p:cNvPr id="8" name="">
            <a:extLst xmlns:a="http://schemas.openxmlformats.org/drawingml/2006/main">
              <a:ext uri="{FF2B5EF4-FFF2-40B4-BE49-F238E27FC236}">
                <a16:creationId xmlns:a16="http://schemas.microsoft.com/office/drawing/2014/main" id="{E2B5C723-A7D8-44D0-9C10-D861F9A85FDE}"/>
              </a:ext>
            </a:extLst>
          </p:cNvPr>
          <p:cNvSpPr>
            <a:spLocks xmlns:a="http://schemas.openxmlformats.org/drawingml/2006/main" noGrp="1"/>
          </p:cNvSpPr>
          <p:nvPr/>
        </p:nvSpPr>
        <p:spPr>
          <a:xfrm xmlns:a="http://schemas.openxmlformats.org/drawingml/2006/main">
            <a:off x="6743700" y="18288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9FB3C8"/>
                </a:solidFill>
              </a:defRPr>
            </a:defPPr>
          </a:lstStyle>
          <a:p xmlns:a="http://schemas.openxmlformats.org/drawingml/2006/main">
            <a:pPr algn="l">
              <a:defRPr sz="1050" b="0" i="0">
                <a:solidFill>
                  <a:srgbClr val="9FB3C8"/>
                </a:solidFill>
              </a:defRPr>
            </a:pPr>
            <a:r>
              <a:rPr sz="1050" b="0" i="0">
                <a:solidFill>
                  <a:srgbClr val="9FB3C8"/>
                </a:solidFill>
              </a:rPr>
              <a:t>Training samples</a:t>
            </a:r>
          </a:p>
        </p:txBody>
      </p:sp>
      <p:sp>
        <p:nvSpPr>
          <p:cNvPr id="9" name="">
            <a:extLst xmlns:a="http://schemas.openxmlformats.org/drawingml/2006/main">
              <a:ext uri="{FF2B5EF4-FFF2-40B4-BE49-F238E27FC236}">
                <a16:creationId xmlns:a16="http://schemas.microsoft.com/office/drawing/2014/main" id="{0910880E-27AE-4429-89BA-CA279C7F5FE7}"/>
              </a:ext>
            </a:extLst>
          </p:cNvPr>
          <p:cNvSpPr>
            <a:spLocks xmlns:a="http://schemas.openxmlformats.org/drawingml/2006/main" noGrp="1"/>
          </p:cNvSpPr>
          <p:nvPr/>
        </p:nvSpPr>
        <p:spPr>
          <a:xfrm xmlns:a="http://schemas.openxmlformats.org/drawingml/2006/main">
            <a:off x="8858250" y="1257300"/>
            <a:ext cx="2000250" cy="971550"/>
          </a:xfrm>
          <a:prstGeom xmlns:a="http://schemas.openxmlformats.org/drawingml/2006/main" prst="roundRect">
            <a:avLst>
              <a:gd name="adj" fmla="val 7843"/>
            </a:avLst>
          </a:prstGeom>
          <a:solidFill xmlns:a="http://schemas.openxmlformats.org/drawingml/2006/main">
            <a:srgbClr val="081A30"/>
          </a:solidFill>
          <a:ln xmlns:a="http://schemas.openxmlformats.org/drawingml/2006/main" w="11430">
            <a:solidFill>
              <a:srgbClr val="1F4E79"/>
            </a:solidFill>
            <a:prstDash val="solid"/>
          </a:ln>
        </p:spPr>
      </p:sp>
      <p:sp>
        <p:nvSpPr>
          <p:cNvPr id="10" name="">
            <a:extLst xmlns:a="http://schemas.openxmlformats.org/drawingml/2006/main">
              <a:ext uri="{FF2B5EF4-FFF2-40B4-BE49-F238E27FC236}">
                <a16:creationId xmlns:a16="http://schemas.microsoft.com/office/drawing/2014/main" id="{1BEB3B46-178B-48F6-9BF3-FE09D41C349F}"/>
              </a:ext>
            </a:extLst>
          </p:cNvPr>
          <p:cNvSpPr>
            <a:spLocks xmlns:a="http://schemas.openxmlformats.org/drawingml/2006/main" noGrp="1"/>
          </p:cNvSpPr>
          <p:nvPr/>
        </p:nvSpPr>
        <p:spPr>
          <a:xfrm xmlns:a="http://schemas.openxmlformats.org/drawingml/2006/main">
            <a:off x="9029700" y="141922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i="0">
                <a:solidFill>
                  <a:srgbClr val="18C6E8"/>
                </a:solidFill>
              </a:defRPr>
            </a:defPPr>
          </a:lstStyle>
          <a:p xmlns:a="http://schemas.openxmlformats.org/drawingml/2006/main">
            <a:pPr algn="l">
              <a:defRPr sz="2025" b="1" i="0">
                <a:solidFill>
                  <a:srgbClr val="18C6E8"/>
                </a:solidFill>
              </a:defRPr>
            </a:pPr>
            <a:r>
              <a:rPr sz="2025" b="1" i="0">
                <a:solidFill>
                  <a:srgbClr val="18C6E8"/>
                </a:solidFill>
              </a:rPr>
              <a:t>146</a:t>
            </a:r>
          </a:p>
        </p:txBody>
      </p:sp>
      <p:sp>
        <p:nvSpPr>
          <p:cNvPr id="11" name="">
            <a:extLst xmlns:a="http://schemas.openxmlformats.org/drawingml/2006/main">
              <a:ext uri="{FF2B5EF4-FFF2-40B4-BE49-F238E27FC236}">
                <a16:creationId xmlns:a16="http://schemas.microsoft.com/office/drawing/2014/main" id="{10426A4B-3A03-4F97-9BBA-C5BAD885C764}"/>
              </a:ext>
            </a:extLst>
          </p:cNvPr>
          <p:cNvSpPr>
            <a:spLocks xmlns:a="http://schemas.openxmlformats.org/drawingml/2006/main" noGrp="1"/>
          </p:cNvSpPr>
          <p:nvPr/>
        </p:nvSpPr>
        <p:spPr>
          <a:xfrm xmlns:a="http://schemas.openxmlformats.org/drawingml/2006/main">
            <a:off x="9029700" y="18288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9FB3C8"/>
                </a:solidFill>
              </a:defRPr>
            </a:defPPr>
          </a:lstStyle>
          <a:p xmlns:a="http://schemas.openxmlformats.org/drawingml/2006/main">
            <a:pPr algn="l">
              <a:defRPr sz="1050" b="0" i="0">
                <a:solidFill>
                  <a:srgbClr val="9FB3C8"/>
                </a:solidFill>
              </a:defRPr>
            </a:pPr>
            <a:r>
              <a:rPr sz="1050" b="0" i="0">
                <a:solidFill>
                  <a:srgbClr val="9FB3C8"/>
                </a:solidFill>
              </a:rPr>
              <a:t>Test samples</a:t>
            </a:r>
          </a:p>
        </p:txBody>
      </p:sp>
      <p:sp>
        <p:nvSpPr>
          <p:cNvPr id="12" name="">
            <a:extLst xmlns:a="http://schemas.openxmlformats.org/drawingml/2006/main">
              <a:ext uri="{FF2B5EF4-FFF2-40B4-BE49-F238E27FC236}">
                <a16:creationId xmlns:a16="http://schemas.microsoft.com/office/drawing/2014/main" id="{7C0306B9-681B-4C03-AB37-92CEF3980748}"/>
              </a:ext>
            </a:extLst>
          </p:cNvPr>
          <p:cNvSpPr>
            <a:spLocks xmlns:a="http://schemas.openxmlformats.org/drawingml/2006/main" noGrp="1"/>
          </p:cNvSpPr>
          <p:nvPr/>
        </p:nvSpPr>
        <p:spPr>
          <a:xfrm xmlns:a="http://schemas.openxmlformats.org/drawingml/2006/main">
            <a:off x="6572250" y="2495550"/>
            <a:ext cx="2000250" cy="971550"/>
          </a:xfrm>
          <a:prstGeom xmlns:a="http://schemas.openxmlformats.org/drawingml/2006/main" prst="roundRect">
            <a:avLst>
              <a:gd name="adj" fmla="val 7843"/>
            </a:avLst>
          </a:prstGeom>
          <a:solidFill xmlns:a="http://schemas.openxmlformats.org/drawingml/2006/main">
            <a:srgbClr val="081A30"/>
          </a:solidFill>
          <a:ln xmlns:a="http://schemas.openxmlformats.org/drawingml/2006/main" w="11430">
            <a:solidFill>
              <a:srgbClr val="1F4E79"/>
            </a:solidFill>
            <a:prstDash val="solid"/>
          </a:ln>
        </p:spPr>
      </p:sp>
      <p:sp>
        <p:nvSpPr>
          <p:cNvPr id="13" name="">
            <a:extLst xmlns:a="http://schemas.openxmlformats.org/drawingml/2006/main">
              <a:ext uri="{FF2B5EF4-FFF2-40B4-BE49-F238E27FC236}">
                <a16:creationId xmlns:a16="http://schemas.microsoft.com/office/drawing/2014/main" id="{F3CA5986-5C6A-43D6-891F-CDE79DE99235}"/>
              </a:ext>
            </a:extLst>
          </p:cNvPr>
          <p:cNvSpPr>
            <a:spLocks xmlns:a="http://schemas.openxmlformats.org/drawingml/2006/main" noGrp="1"/>
          </p:cNvSpPr>
          <p:nvPr/>
        </p:nvSpPr>
        <p:spPr>
          <a:xfrm xmlns:a="http://schemas.openxmlformats.org/drawingml/2006/main">
            <a:off x="6743700" y="265747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i="0">
                <a:solidFill>
                  <a:srgbClr val="3B82F6"/>
                </a:solidFill>
              </a:defRPr>
            </a:defPPr>
          </a:lstStyle>
          <a:p xmlns:a="http://schemas.openxmlformats.org/drawingml/2006/main">
            <a:pPr algn="l">
              <a:defRPr sz="2025" b="1" i="0">
                <a:solidFill>
                  <a:srgbClr val="3B82F6"/>
                </a:solidFill>
              </a:defRPr>
            </a:pPr>
            <a:r>
              <a:rPr sz="2025" b="1" i="0">
                <a:solidFill>
                  <a:srgbClr val="3B82F6"/>
                </a:solidFill>
              </a:rPr>
              <a:t>81</a:t>
            </a:r>
          </a:p>
        </p:txBody>
      </p:sp>
      <p:sp>
        <p:nvSpPr>
          <p:cNvPr id="14" name="">
            <a:extLst xmlns:a="http://schemas.openxmlformats.org/drawingml/2006/main">
              <a:ext uri="{FF2B5EF4-FFF2-40B4-BE49-F238E27FC236}">
                <a16:creationId xmlns:a16="http://schemas.microsoft.com/office/drawing/2014/main" id="{E51775C4-93F5-45C5-93D6-F5D07CA03DA5}"/>
              </a:ext>
            </a:extLst>
          </p:cNvPr>
          <p:cNvSpPr>
            <a:spLocks xmlns:a="http://schemas.openxmlformats.org/drawingml/2006/main" noGrp="1"/>
          </p:cNvSpPr>
          <p:nvPr/>
        </p:nvSpPr>
        <p:spPr>
          <a:xfrm xmlns:a="http://schemas.openxmlformats.org/drawingml/2006/main">
            <a:off x="6743700" y="30670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9FB3C8"/>
                </a:solidFill>
              </a:defRPr>
            </a:defPPr>
          </a:lstStyle>
          <a:p xmlns:a="http://schemas.openxmlformats.org/drawingml/2006/main">
            <a:pPr algn="l">
              <a:defRPr sz="1050" b="0" i="0">
                <a:solidFill>
                  <a:srgbClr val="9FB3C8"/>
                </a:solidFill>
              </a:defRPr>
            </a:pPr>
            <a:r>
              <a:rPr sz="1050" b="0" i="0">
                <a:solidFill>
                  <a:srgbClr val="9FB3C8"/>
                </a:solidFill>
              </a:rPr>
              <a:t>Raw columns</a:t>
            </a:r>
          </a:p>
        </p:txBody>
      </p:sp>
      <p:sp>
        <p:nvSpPr>
          <p:cNvPr id="15" name="">
            <a:extLst xmlns:a="http://schemas.openxmlformats.org/drawingml/2006/main">
              <a:ext uri="{FF2B5EF4-FFF2-40B4-BE49-F238E27FC236}">
                <a16:creationId xmlns:a16="http://schemas.microsoft.com/office/drawing/2014/main" id="{D24EA0A5-4E6C-4779-8988-AC98A9EA2B4A}"/>
              </a:ext>
            </a:extLst>
          </p:cNvPr>
          <p:cNvSpPr>
            <a:spLocks xmlns:a="http://schemas.openxmlformats.org/drawingml/2006/main" noGrp="1"/>
          </p:cNvSpPr>
          <p:nvPr/>
        </p:nvSpPr>
        <p:spPr>
          <a:xfrm xmlns:a="http://schemas.openxmlformats.org/drawingml/2006/main">
            <a:off x="8858250" y="2495550"/>
            <a:ext cx="2000250" cy="971550"/>
          </a:xfrm>
          <a:prstGeom xmlns:a="http://schemas.openxmlformats.org/drawingml/2006/main" prst="roundRect">
            <a:avLst>
              <a:gd name="adj" fmla="val 7843"/>
            </a:avLst>
          </a:prstGeom>
          <a:solidFill xmlns:a="http://schemas.openxmlformats.org/drawingml/2006/main">
            <a:srgbClr val="081A30"/>
          </a:solidFill>
          <a:ln xmlns:a="http://schemas.openxmlformats.org/drawingml/2006/main" w="11430">
            <a:solidFill>
              <a:srgbClr val="1F4E79"/>
            </a:solidFill>
            <a:prstDash val="solid"/>
          </a:ln>
        </p:spPr>
      </p:sp>
      <p:sp>
        <p:nvSpPr>
          <p:cNvPr id="16" name="">
            <a:extLst xmlns:a="http://schemas.openxmlformats.org/drawingml/2006/main">
              <a:ext uri="{FF2B5EF4-FFF2-40B4-BE49-F238E27FC236}">
                <a16:creationId xmlns:a16="http://schemas.microsoft.com/office/drawing/2014/main" id="{1A76B36C-4C93-42A0-9CF0-092FB5BCA105}"/>
              </a:ext>
            </a:extLst>
          </p:cNvPr>
          <p:cNvSpPr>
            <a:spLocks xmlns:a="http://schemas.openxmlformats.org/drawingml/2006/main" noGrp="1"/>
          </p:cNvSpPr>
          <p:nvPr/>
        </p:nvSpPr>
        <p:spPr>
          <a:xfrm xmlns:a="http://schemas.openxmlformats.org/drawingml/2006/main">
            <a:off x="9029700" y="265747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i="0">
                <a:solidFill>
                  <a:srgbClr val="3B82F6"/>
                </a:solidFill>
              </a:defRPr>
            </a:defPPr>
          </a:lstStyle>
          <a:p xmlns:a="http://schemas.openxmlformats.org/drawingml/2006/main">
            <a:pPr algn="l">
              <a:defRPr sz="2025" b="1" i="0">
                <a:solidFill>
                  <a:srgbClr val="3B82F6"/>
                </a:solidFill>
              </a:defRPr>
            </a:pPr>
            <a:r>
              <a:rPr sz="2025" b="1" i="0">
                <a:solidFill>
                  <a:srgbClr val="3B82F6"/>
                </a:solidFill>
              </a:rPr>
              <a:t>79</a:t>
            </a:r>
          </a:p>
        </p:txBody>
      </p:sp>
      <p:sp>
        <p:nvSpPr>
          <p:cNvPr id="17" name="">
            <a:extLst xmlns:a="http://schemas.openxmlformats.org/drawingml/2006/main">
              <a:ext uri="{FF2B5EF4-FFF2-40B4-BE49-F238E27FC236}">
                <a16:creationId xmlns:a16="http://schemas.microsoft.com/office/drawing/2014/main" id="{0CF0FC00-C528-4ECB-88E3-609040C3ECB3}"/>
              </a:ext>
            </a:extLst>
          </p:cNvPr>
          <p:cNvSpPr>
            <a:spLocks xmlns:a="http://schemas.openxmlformats.org/drawingml/2006/main" noGrp="1"/>
          </p:cNvSpPr>
          <p:nvPr/>
        </p:nvSpPr>
        <p:spPr>
          <a:xfrm xmlns:a="http://schemas.openxmlformats.org/drawingml/2006/main">
            <a:off x="9029700" y="30670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9FB3C8"/>
                </a:solidFill>
              </a:defRPr>
            </a:defPPr>
          </a:lstStyle>
          <a:p xmlns:a="http://schemas.openxmlformats.org/drawingml/2006/main">
            <a:pPr algn="l">
              <a:defRPr sz="1050" b="0" i="0">
                <a:solidFill>
                  <a:srgbClr val="9FB3C8"/>
                </a:solidFill>
              </a:defRPr>
            </a:pPr>
            <a:r>
              <a:rPr sz="1050" b="0" i="0">
                <a:solidFill>
                  <a:srgbClr val="9FB3C8"/>
                </a:solidFill>
              </a:rPr>
              <a:t>Model features</a:t>
            </a:r>
          </a:p>
        </p:txBody>
      </p:sp>
      <p:sp>
        <p:nvSpPr>
          <p:cNvPr id="18" name="">
            <a:extLst xmlns:a="http://schemas.openxmlformats.org/drawingml/2006/main">
              <a:ext uri="{FF2B5EF4-FFF2-40B4-BE49-F238E27FC236}">
                <a16:creationId xmlns:a16="http://schemas.microsoft.com/office/drawing/2014/main" id="{A36A69C2-E9C7-422F-BF4E-959979447E77}"/>
              </a:ext>
            </a:extLst>
          </p:cNvPr>
          <p:cNvSpPr>
            <a:spLocks xmlns:a="http://schemas.openxmlformats.org/drawingml/2006/main" noGrp="1"/>
          </p:cNvSpPr>
          <p:nvPr/>
        </p:nvSpPr>
        <p:spPr>
          <a:xfrm xmlns:a="http://schemas.openxmlformats.org/drawingml/2006/main">
            <a:off x="6572250" y="4000500"/>
            <a:ext cx="4286250" cy="1047750"/>
          </a:xfrm>
          <a:prstGeom xmlns:a="http://schemas.openxmlformats.org/drawingml/2006/main" prst="roundRect">
            <a:avLst>
              <a:gd name="adj" fmla="val 7273"/>
            </a:avLst>
          </a:prstGeom>
          <a:solidFill xmlns:a="http://schemas.openxmlformats.org/drawingml/2006/main">
            <a:srgbClr val="081A30"/>
          </a:solidFill>
          <a:ln xmlns:a="http://schemas.openxmlformats.org/drawingml/2006/main" w="11430">
            <a:solidFill>
              <a:srgbClr val="1D466A"/>
            </a:solidFill>
            <a:prstDash val="solid"/>
          </a:ln>
        </p:spPr>
      </p:sp>
      <p:sp>
        <p:nvSpPr>
          <p:cNvPr id="19" name="">
            <a:extLst xmlns:a="http://schemas.openxmlformats.org/drawingml/2006/main">
              <a:ext uri="{FF2B5EF4-FFF2-40B4-BE49-F238E27FC236}">
                <a16:creationId xmlns:a16="http://schemas.microsoft.com/office/drawing/2014/main" id="{1A2F2C53-CBD2-4384-892C-BA49F7DC9096}"/>
              </a:ext>
            </a:extLst>
          </p:cNvPr>
          <p:cNvSpPr>
            <a:spLocks xmlns:a="http://schemas.openxmlformats.org/drawingml/2006/main" noGrp="1"/>
          </p:cNvSpPr>
          <p:nvPr/>
        </p:nvSpPr>
        <p:spPr>
          <a:xfrm xmlns:a="http://schemas.openxmlformats.org/drawingml/2006/main">
            <a:off x="6819900" y="42100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18C6E8"/>
                </a:solidFill>
              </a:defRPr>
            </a:defPPr>
          </a:lstStyle>
          <a:p xmlns:a="http://schemas.openxmlformats.org/drawingml/2006/main">
            <a:pPr algn="l">
              <a:defRPr sz="1275" b="1" i="0">
                <a:solidFill>
                  <a:srgbClr val="18C6E8"/>
                </a:solidFill>
              </a:defRPr>
            </a:pPr>
            <a:r>
              <a:rPr sz="1275" b="1" i="0">
                <a:solidFill>
                  <a:srgbClr val="18C6E8"/>
                </a:solidFill>
              </a:rPr>
              <a:t>Regression output</a:t>
            </a:r>
          </a:p>
        </p:txBody>
      </p:sp>
      <p:sp>
        <p:nvSpPr>
          <p:cNvPr id="20" name="">
            <a:extLst xmlns:a="http://schemas.openxmlformats.org/drawingml/2006/main">
              <a:ext uri="{FF2B5EF4-FFF2-40B4-BE49-F238E27FC236}">
                <a16:creationId xmlns:a16="http://schemas.microsoft.com/office/drawing/2014/main" id="{04DB7A27-C18D-48BD-A3FD-7BE4AA72536C}"/>
              </a:ext>
            </a:extLst>
          </p:cNvPr>
          <p:cNvSpPr>
            <a:spLocks xmlns:a="http://schemas.openxmlformats.org/drawingml/2006/main" noGrp="1"/>
          </p:cNvSpPr>
          <p:nvPr/>
        </p:nvSpPr>
        <p:spPr>
          <a:xfrm xmlns:a="http://schemas.openxmlformats.org/drawingml/2006/main">
            <a:off x="6819900" y="4533900"/>
            <a:ext cx="3733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i="0">
                <a:solidFill>
                  <a:srgbClr val="F8FBFF"/>
                </a:solidFill>
              </a:defRPr>
            </a:defPPr>
          </a:lstStyle>
          <a:p xmlns:a="http://schemas.openxmlformats.org/drawingml/2006/main">
            <a:pPr algn="l">
              <a:defRPr sz="1350" b="0" i="0">
                <a:solidFill>
                  <a:srgbClr val="F8FBFF"/>
                </a:solidFill>
              </a:defRPr>
            </a:pPr>
            <a:r>
              <a:rPr sz="1350" b="0" i="0">
                <a:solidFill>
                  <a:srgbClr val="F8FBFF"/>
                </a:solidFill>
              </a:rPr>
              <a:t>A numeric price estimate in dollars, evaluated with MAE, RMSE, and R2.</a:t>
            </a:r>
          </a:p>
        </p:txBody>
      </p:sp>
    </p:spTree>
    <p:extLst>
      <p:ext uri="{BB962C8B-B14F-4D97-AF65-F5344CB8AC3E}">
        <p14:creationId xmlns:p14="http://schemas.microsoft.com/office/powerpoint/2010/main" val="937102086"/>
      </p:ext>
    </p:extLst>
  </p:cSld>
</p:sld>
</file>

<file path=ppt/slides/slide3.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B7990D-3935-4D59-9525-99C69ECC82B5}"/>
              </a:ext>
            </a:extLst>
          </p:cNvPr>
          <p:cNvSpPr>
            <a:spLocks xmlns:a="http://schemas.openxmlformats.org/drawingml/2006/main" noGrp="1"/>
          </p:cNvSpPr>
          <p:nvPr/>
        </p:nvSpPr>
        <p:spPr>
          <a:xfrm xmlns:a="http://schemas.openxmlformats.org/drawingml/2006/main">
            <a:off x="571500" y="381000"/>
            <a:ext cx="838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i="0">
                <a:solidFill>
                  <a:srgbClr val="F8FBFF"/>
                </a:solidFill>
              </a:defRPr>
            </a:defPPr>
          </a:lstStyle>
          <a:p xmlns:a="http://schemas.openxmlformats.org/drawingml/2006/main">
            <a:pPr algn="l">
              <a:defRPr sz="2400" b="1" i="0">
                <a:solidFill>
                  <a:srgbClr val="F8FBFF"/>
                </a:solidFill>
              </a:defRPr>
            </a:pPr>
            <a:r>
              <a:rPr sz="2400" b="1" i="0">
                <a:solidFill>
                  <a:srgbClr val="F8FBFF"/>
                </a:solidFill>
              </a:rPr>
              <a:t>Exploratory Data Analysis</a:t>
            </a:r>
          </a:p>
        </p:txBody>
      </p:sp>
      <p:sp>
        <p:nvSpPr>
          <p:cNvPr id="2" name="">
            <a:extLst xmlns:a="http://schemas.openxmlformats.org/drawingml/2006/main">
              <a:ext uri="{FF2B5EF4-FFF2-40B4-BE49-F238E27FC236}">
                <a16:creationId xmlns:a16="http://schemas.microsoft.com/office/drawing/2014/main" id="{CB262319-6E3B-447B-AD5D-3AF4A23D3F18}"/>
              </a:ext>
            </a:extLst>
          </p:cNvPr>
          <p:cNvSpPr>
            <a:spLocks xmlns:a="http://schemas.openxmlformats.org/drawingml/2006/main" noGrp="1"/>
          </p:cNvSpPr>
          <p:nvPr/>
        </p:nvSpPr>
        <p:spPr>
          <a:xfrm xmlns:a="http://schemas.openxmlformats.org/drawingml/2006/main">
            <a:off x="571500" y="952500"/>
            <a:ext cx="17145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pic>
        <p:nvPicPr>
          <p:cNvPr id="3" name="">
            <a:extLst xmlns:a="http://schemas.openxmlformats.org/drawingml/2006/main">
              <a:ext uri="{FF2B5EF4-FFF2-40B4-BE49-F238E27FC236}">
                <a16:creationId xmlns:a16="http://schemas.microsoft.com/office/drawing/2014/main" id="{417C957C-9C54-44B8-961B-C212AD447127}"/>
              </a:ext>
            </a:extLst>
          </p:cNvPr>
          <p:cNvPicPr>
            <a:picLocks xmlns:a="http://schemas.openxmlformats.org/drawingml/2006/main" noChangeAspect="1"/>
          </p:cNvPicPr>
          <p:nvPr/>
        </p:nvPicPr>
        <p:blipFill>
          <a:blip xmlns:r="http://schemas.openxmlformats.org/officeDocument/2006/relationships" xmlns:a="http://schemas.openxmlformats.org/drawingml/2006/main" r:embed="R7fa01e0dff8c44fa"/>
          <a:stretch xmlns:a="http://schemas.openxmlformats.org/drawingml/2006/main"/>
        </p:blipFill>
        <p:spPr>
          <a:xfrm xmlns:a="http://schemas.openxmlformats.org/drawingml/2006/main">
            <a:off x="533400" y="1488062"/>
            <a:ext cx="3429000" cy="1872100"/>
          </a:xfrm>
          <a:prstGeom xmlns:a="http://schemas.openxmlformats.org/drawingml/2006/main" prst="roundRect">
            <a:avLst>
              <a:gd name="adj" fmla="val 3265"/>
            </a:avLst>
          </a:prstGeom>
        </p:spPr>
      </p:pic>
      <p:pic>
        <p:nvPicPr>
          <p:cNvPr id="4" name="">
            <a:extLst xmlns:a="http://schemas.openxmlformats.org/drawingml/2006/main">
              <a:ext uri="{FF2B5EF4-FFF2-40B4-BE49-F238E27FC236}">
                <a16:creationId xmlns:a16="http://schemas.microsoft.com/office/drawing/2014/main" id="{BD665FA5-CF37-46A8-A682-BD231E066C7D}"/>
              </a:ext>
            </a:extLst>
          </p:cNvPr>
          <p:cNvPicPr>
            <a:picLocks xmlns:a="http://schemas.openxmlformats.org/drawingml/2006/main" noChangeAspect="1"/>
          </p:cNvPicPr>
          <p:nvPr/>
        </p:nvPicPr>
        <p:blipFill>
          <a:blip xmlns:r="http://schemas.openxmlformats.org/officeDocument/2006/relationships" xmlns:a="http://schemas.openxmlformats.org/drawingml/2006/main" r:embed="Rb7308c9f03044795"/>
          <a:stretch xmlns:a="http://schemas.openxmlformats.org/drawingml/2006/main"/>
        </p:blipFill>
        <p:spPr>
          <a:xfrm xmlns:a="http://schemas.openxmlformats.org/drawingml/2006/main">
            <a:off x="4400550" y="1488062"/>
            <a:ext cx="3429000" cy="1872100"/>
          </a:xfrm>
          <a:prstGeom xmlns:a="http://schemas.openxmlformats.org/drawingml/2006/main" prst="roundRect">
            <a:avLst>
              <a:gd name="adj" fmla="val 3265"/>
            </a:avLst>
          </a:prstGeom>
        </p:spPr>
      </p:pic>
      <p:pic>
        <p:nvPicPr>
          <p:cNvPr id="5" name="">
            <a:extLst xmlns:a="http://schemas.openxmlformats.org/drawingml/2006/main">
              <a:ext uri="{FF2B5EF4-FFF2-40B4-BE49-F238E27FC236}">
                <a16:creationId xmlns:a16="http://schemas.microsoft.com/office/drawing/2014/main" id="{AE781B00-E82E-4A54-A55B-11A3F4A8361F}"/>
              </a:ext>
            </a:extLst>
          </p:cNvPr>
          <p:cNvPicPr>
            <a:picLocks xmlns:a="http://schemas.openxmlformats.org/drawingml/2006/main" noChangeAspect="1"/>
          </p:cNvPicPr>
          <p:nvPr/>
        </p:nvPicPr>
        <p:blipFill>
          <a:blip xmlns:r="http://schemas.openxmlformats.org/officeDocument/2006/relationships" xmlns:a="http://schemas.openxmlformats.org/drawingml/2006/main" r:embed="R75d0a2579f494554"/>
          <a:stretch xmlns:a="http://schemas.openxmlformats.org/drawingml/2006/main"/>
        </p:blipFill>
        <p:spPr>
          <a:xfrm xmlns:a="http://schemas.openxmlformats.org/drawingml/2006/main">
            <a:off x="8267700" y="1485972"/>
            <a:ext cx="3429000" cy="1876281"/>
          </a:xfrm>
          <a:prstGeom xmlns:a="http://schemas.openxmlformats.org/drawingml/2006/main" prst="roundRect">
            <a:avLst>
              <a:gd name="adj" fmla="val 3265"/>
            </a:avLst>
          </a:prstGeom>
        </p:spPr>
      </p:pic>
      <p:pic>
        <p:nvPicPr>
          <p:cNvPr id="6" name="">
            <a:extLst xmlns:a="http://schemas.openxmlformats.org/drawingml/2006/main">
              <a:ext uri="{FF2B5EF4-FFF2-40B4-BE49-F238E27FC236}">
                <a16:creationId xmlns:a16="http://schemas.microsoft.com/office/drawing/2014/main" id="{B54879CA-896C-4E0D-A849-FFF5916E43A4}"/>
              </a:ext>
            </a:extLst>
          </p:cNvPr>
          <p:cNvPicPr>
            <a:picLocks xmlns:a="http://schemas.openxmlformats.org/drawingml/2006/main" noChangeAspect="1"/>
          </p:cNvPicPr>
          <p:nvPr/>
        </p:nvPicPr>
        <p:blipFill>
          <a:blip xmlns:r="http://schemas.openxmlformats.org/officeDocument/2006/relationships" xmlns:a="http://schemas.openxmlformats.org/drawingml/2006/main" r:embed="R8f4bfef687a140e7"/>
          <a:stretch xmlns:a="http://schemas.openxmlformats.org/drawingml/2006/main"/>
        </p:blipFill>
        <p:spPr>
          <a:xfrm xmlns:a="http://schemas.openxmlformats.org/drawingml/2006/main">
            <a:off x="1393221" y="3790950"/>
            <a:ext cx="2757107" cy="2476500"/>
          </a:xfrm>
          <a:prstGeom xmlns:a="http://schemas.openxmlformats.org/drawingml/2006/main" prst="roundRect">
            <a:avLst>
              <a:gd name="adj" fmla="val 3077"/>
            </a:avLst>
          </a:prstGeom>
        </p:spPr>
      </p:pic>
      <p:sp>
        <p:nvSpPr>
          <p:cNvPr id="7" name="">
            <a:extLst xmlns:a="http://schemas.openxmlformats.org/drawingml/2006/main">
              <a:ext uri="{FF2B5EF4-FFF2-40B4-BE49-F238E27FC236}">
                <a16:creationId xmlns:a16="http://schemas.microsoft.com/office/drawing/2014/main" id="{E3DB1DF9-4096-467E-BAE0-A80992DA3854}"/>
              </a:ext>
            </a:extLst>
          </p:cNvPr>
          <p:cNvSpPr>
            <a:spLocks xmlns:a="http://schemas.openxmlformats.org/drawingml/2006/main" noGrp="1"/>
          </p:cNvSpPr>
          <p:nvPr/>
        </p:nvSpPr>
        <p:spPr>
          <a:xfrm xmlns:a="http://schemas.openxmlformats.org/drawingml/2006/main">
            <a:off x="5334000" y="40386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1" i="0">
                <a:solidFill>
                  <a:srgbClr val="18C6E8"/>
                </a:solidFill>
              </a:defRPr>
            </a:defPPr>
          </a:lstStyle>
          <a:p xmlns:a="http://schemas.openxmlformats.org/drawingml/2006/main">
            <a:pPr algn="l">
              <a:defRPr sz="1500" b="1" i="0">
                <a:solidFill>
                  <a:srgbClr val="18C6E8"/>
                </a:solidFill>
              </a:defRPr>
            </a:pPr>
            <a:r>
              <a:rPr sz="1500" b="1" i="0">
                <a:solidFill>
                  <a:srgbClr val="18C6E8"/>
                </a:solidFill>
              </a:rPr>
              <a:t>Evidence-based findings</a:t>
            </a:r>
          </a:p>
        </p:txBody>
      </p:sp>
      <p:sp>
        <p:nvSpPr>
          <p:cNvPr id="8" name="">
            <a:extLst xmlns:a="http://schemas.openxmlformats.org/drawingml/2006/main">
              <a:ext uri="{FF2B5EF4-FFF2-40B4-BE49-F238E27FC236}">
                <a16:creationId xmlns:a16="http://schemas.microsoft.com/office/drawing/2014/main" id="{85E3AC19-4A02-4351-8B67-53BFAF012D40}"/>
              </a:ext>
            </a:extLst>
          </p:cNvPr>
          <p:cNvSpPr>
            <a:spLocks xmlns:a="http://schemas.openxmlformats.org/drawingml/2006/main" noGrp="1"/>
          </p:cNvSpPr>
          <p:nvPr/>
        </p:nvSpPr>
        <p:spPr>
          <a:xfrm xmlns:a="http://schemas.openxmlformats.org/drawingml/2006/main">
            <a:off x="5334000" y="4438650"/>
            <a:ext cx="6000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F8FBFF"/>
                </a:solidFill>
              </a:defRPr>
            </a:defPPr>
          </a:lstStyle>
          <a:p xmlns:a="http://schemas.openxmlformats.org/drawingml/2006/main">
            <a:pPr algn="l">
              <a:defRPr sz="1425" b="0" i="0">
                <a:solidFill>
                  <a:srgbClr val="F8FBFF"/>
                </a:solidFill>
              </a:defRPr>
            </a:pPr>
            <a:r>
              <a:rPr sz="1425" b="0" i="0">
                <a:solidFill>
                  <a:srgbClr val="F8FBFF"/>
                </a:solidFill>
              </a:rPr>
              <a:t>• SalePrice is right-skewed; median $162,950 is below mean $181,045</a:t>
            </a:r>
          </a:p>
          <a:p xmlns:a="http://schemas.openxmlformats.org/drawingml/2006/main">
            <a:pPr algn="l">
              <a:defRPr sz="1425" b="0" i="0">
                <a:solidFill>
                  <a:srgbClr val="F8FBFF"/>
                </a:solidFill>
              </a:defRPr>
            </a:pPr>
            <a:r>
              <a:rPr sz="1425" b="0" i="0">
                <a:solidFill>
                  <a:srgbClr val="F8FBFF"/>
                </a:solidFill>
              </a:rPr>
              <a:t>• Overall quality shows a strong positive relationship with price</a:t>
            </a:r>
          </a:p>
          <a:p xmlns:a="http://schemas.openxmlformats.org/drawingml/2006/main">
            <a:pPr algn="l">
              <a:defRPr sz="1425" b="0" i="0">
                <a:solidFill>
                  <a:srgbClr val="F8FBFF"/>
                </a:solidFill>
              </a:defRPr>
            </a:pPr>
            <a:r>
              <a:rPr sz="1425" b="0" i="0">
                <a:solidFill>
                  <a:srgbClr val="F8FBFF"/>
                </a:solidFill>
              </a:rPr>
              <a:t>• Larger living area usually increases price, with some unusual high-area homes</a:t>
            </a:r>
          </a:p>
        </p:txBody>
      </p:sp>
    </p:spTree>
    <p:extLst>
      <p:ext uri="{BB962C8B-B14F-4D97-AF65-F5344CB8AC3E}">
        <p14:creationId xmlns:p14="http://schemas.microsoft.com/office/powerpoint/2010/main" val="1773183176"/>
      </p:ext>
    </p:extLst>
  </p:cSld>
</p:sld>
</file>

<file path=ppt/slides/slide4.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F6BDCDB-D022-4824-A0BD-F7D479E7A378}"/>
              </a:ext>
            </a:extLst>
          </p:cNvPr>
          <p:cNvSpPr>
            <a:spLocks xmlns:a="http://schemas.openxmlformats.org/drawingml/2006/main" noGrp="1"/>
          </p:cNvSpPr>
          <p:nvPr/>
        </p:nvSpPr>
        <p:spPr>
          <a:xfrm xmlns:a="http://schemas.openxmlformats.org/drawingml/2006/main">
            <a:off x="571500" y="381000"/>
            <a:ext cx="838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i="0">
                <a:solidFill>
                  <a:srgbClr val="F8FBFF"/>
                </a:solidFill>
              </a:defRPr>
            </a:defPPr>
          </a:lstStyle>
          <a:p xmlns:a="http://schemas.openxmlformats.org/drawingml/2006/main">
            <a:pPr algn="l">
              <a:defRPr sz="2400" b="1" i="0">
                <a:solidFill>
                  <a:srgbClr val="F8FBFF"/>
                </a:solidFill>
              </a:defRPr>
            </a:pPr>
            <a:r>
              <a:rPr sz="2400" b="1" i="0">
                <a:solidFill>
                  <a:srgbClr val="F8FBFF"/>
                </a:solidFill>
              </a:rPr>
              <a:t>Data Preprocessing</a:t>
            </a:r>
          </a:p>
        </p:txBody>
      </p:sp>
      <p:sp>
        <p:nvSpPr>
          <p:cNvPr id="2" name="">
            <a:extLst xmlns:a="http://schemas.openxmlformats.org/drawingml/2006/main">
              <a:ext uri="{FF2B5EF4-FFF2-40B4-BE49-F238E27FC236}">
                <a16:creationId xmlns:a16="http://schemas.microsoft.com/office/drawing/2014/main" id="{541CD260-6D89-4FE2-82E3-9B5233D0B383}"/>
              </a:ext>
            </a:extLst>
          </p:cNvPr>
          <p:cNvSpPr>
            <a:spLocks xmlns:a="http://schemas.openxmlformats.org/drawingml/2006/main" noGrp="1"/>
          </p:cNvSpPr>
          <p:nvPr/>
        </p:nvSpPr>
        <p:spPr>
          <a:xfrm xmlns:a="http://schemas.openxmlformats.org/drawingml/2006/main">
            <a:off x="571500" y="952500"/>
            <a:ext cx="17145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sp>
        <p:nvSpPr>
          <p:cNvPr id="3" name="">
            <a:extLst xmlns:a="http://schemas.openxmlformats.org/drawingml/2006/main">
              <a:ext uri="{FF2B5EF4-FFF2-40B4-BE49-F238E27FC236}">
                <a16:creationId xmlns:a16="http://schemas.microsoft.com/office/drawing/2014/main" id="{2FA8143B-4497-496D-A1CF-8E0B866F68AD}"/>
              </a:ext>
            </a:extLst>
          </p:cNvPr>
          <p:cNvSpPr>
            <a:spLocks xmlns:a="http://schemas.openxmlformats.org/drawingml/2006/main" noGrp="1"/>
          </p:cNvSpPr>
          <p:nvPr/>
        </p:nvSpPr>
        <p:spPr>
          <a:xfrm xmlns:a="http://schemas.openxmlformats.org/drawingml/2006/main">
            <a:off x="666750" y="1257300"/>
            <a:ext cx="4762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0" i="0">
                <a:solidFill>
                  <a:srgbClr val="F8FBFF"/>
                </a:solidFill>
              </a:defRPr>
            </a:defPPr>
          </a:lstStyle>
          <a:p xmlns:a="http://schemas.openxmlformats.org/drawingml/2006/main">
            <a:pPr algn="l">
              <a:defRPr sz="1350" b="0" i="0">
                <a:solidFill>
                  <a:srgbClr val="F8FBFF"/>
                </a:solidFill>
              </a:defRPr>
            </a:pPr>
            <a:r>
              <a:rPr sz="1350" b="0" i="0">
                <a:solidFill>
                  <a:srgbClr val="F8FBFF"/>
                </a:solidFill>
              </a:rPr>
              <a:t>• Target separated from input features</a:t>
            </a:r>
          </a:p>
          <a:p xmlns:a="http://schemas.openxmlformats.org/drawingml/2006/main">
            <a:pPr algn="l">
              <a:defRPr sz="1350" b="0" i="0">
                <a:solidFill>
                  <a:srgbClr val="F8FBFF"/>
                </a:solidFill>
              </a:defRPr>
            </a:pPr>
            <a:r>
              <a:rPr sz="1350" b="0" i="0">
                <a:solidFill>
                  <a:srgbClr val="F8FBFF"/>
                </a:solidFill>
              </a:rPr>
              <a:t>• Numeric features: 35; categorical features: 44</a:t>
            </a:r>
          </a:p>
          <a:p xmlns:a="http://schemas.openxmlformats.org/drawingml/2006/main">
            <a:pPr algn="l">
              <a:defRPr sz="1350" b="0" i="0">
                <a:solidFill>
                  <a:srgbClr val="F8FBFF"/>
                </a:solidFill>
              </a:defRPr>
            </a:pPr>
            <a:r>
              <a:rPr sz="1350" b="0" i="0">
                <a:solidFill>
                  <a:srgbClr val="F8FBFF"/>
                </a:solidFill>
              </a:rPr>
              <a:t>• Documented absence values filled as None</a:t>
            </a:r>
          </a:p>
          <a:p xmlns:a="http://schemas.openxmlformats.org/drawingml/2006/main">
            <a:pPr algn="l">
              <a:defRPr sz="1350" b="0" i="0">
                <a:solidFill>
                  <a:srgbClr val="F8FBFF"/>
                </a:solidFill>
              </a:defRPr>
            </a:pPr>
            <a:r>
              <a:rPr sz="1350" b="0" i="0">
                <a:solidFill>
                  <a:srgbClr val="F8FBFF"/>
                </a:solidFill>
              </a:rPr>
              <a:t>• Other numeric values imputed with median or zero when justified</a:t>
            </a:r>
          </a:p>
          <a:p xmlns:a="http://schemas.openxmlformats.org/drawingml/2006/main">
            <a:pPr algn="l">
              <a:defRPr sz="1350" b="0" i="0">
                <a:solidFill>
                  <a:srgbClr val="F8FBFF"/>
                </a:solidFill>
              </a:defRPr>
            </a:pPr>
            <a:r>
              <a:rPr sz="1350" b="0" i="0">
                <a:solidFill>
                  <a:srgbClr val="F8FBFF"/>
                </a:solidFill>
              </a:rPr>
              <a:t>• One-hot encoding handled unseen categories</a:t>
            </a:r>
          </a:p>
          <a:p xmlns:a="http://schemas.openxmlformats.org/drawingml/2006/main">
            <a:pPr algn="l">
              <a:defRPr sz="1350" b="0" i="0">
                <a:solidFill>
                  <a:srgbClr val="F8FBFF"/>
                </a:solidFill>
              </a:defRPr>
            </a:pPr>
            <a:r>
              <a:rPr sz="1350" b="0" i="0">
                <a:solidFill>
                  <a:srgbClr val="F8FBFF"/>
                </a:solidFill>
              </a:rPr>
              <a:t>• Scaling applied inside the pipeline</a:t>
            </a:r>
          </a:p>
        </p:txBody>
      </p:sp>
      <p:sp>
        <p:nvSpPr>
          <p:cNvPr id="4" name="">
            <a:extLst xmlns:a="http://schemas.openxmlformats.org/drawingml/2006/main">
              <a:ext uri="{FF2B5EF4-FFF2-40B4-BE49-F238E27FC236}">
                <a16:creationId xmlns:a16="http://schemas.microsoft.com/office/drawing/2014/main" id="{998830C7-1BDA-4B3D-BE03-87461DE1ECE5}"/>
              </a:ext>
            </a:extLst>
          </p:cNvPr>
          <p:cNvSpPr>
            <a:spLocks xmlns:a="http://schemas.openxmlformats.org/drawingml/2006/main" noGrp="1"/>
          </p:cNvSpPr>
          <p:nvPr/>
        </p:nvSpPr>
        <p:spPr>
          <a:xfrm xmlns:a="http://schemas.openxmlformats.org/drawingml/2006/main">
            <a:off x="762000" y="4476750"/>
            <a:ext cx="1524000" cy="762000"/>
          </a:xfrm>
          <a:prstGeom xmlns:a="http://schemas.openxmlformats.org/drawingml/2006/main" prst="roundRect">
            <a:avLst>
              <a:gd name="adj" fmla="val 10000"/>
            </a:avLst>
          </a:prstGeom>
          <a:solidFill xmlns:a="http://schemas.openxmlformats.org/drawingml/2006/main">
            <a:srgbClr val="081A30"/>
          </a:solidFill>
          <a:ln xmlns:a="http://schemas.openxmlformats.org/drawingml/2006/main" w="11430">
            <a:solidFill>
              <a:srgbClr val="1D466A"/>
            </a:solidFill>
            <a:prstDash val="solid"/>
          </a:ln>
        </p:spPr>
      </p:sp>
      <p:sp>
        <p:nvSpPr>
          <p:cNvPr id="5" name="">
            <a:extLst xmlns:a="http://schemas.openxmlformats.org/drawingml/2006/main">
              <a:ext uri="{FF2B5EF4-FFF2-40B4-BE49-F238E27FC236}">
                <a16:creationId xmlns:a16="http://schemas.microsoft.com/office/drawing/2014/main" id="{93145CA8-FC98-4782-B49C-9AEF7B6362C7}"/>
              </a:ext>
            </a:extLst>
          </p:cNvPr>
          <p:cNvSpPr>
            <a:spLocks xmlns:a="http://schemas.openxmlformats.org/drawingml/2006/main" noGrp="1"/>
          </p:cNvSpPr>
          <p:nvPr/>
        </p:nvSpPr>
        <p:spPr>
          <a:xfrm xmlns:a="http://schemas.openxmlformats.org/drawingml/2006/main">
            <a:off x="895350" y="46101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8FBFF"/>
                </a:solidFill>
              </a:defRPr>
            </a:defPPr>
          </a:lstStyle>
          <a:p xmlns:a="http://schemas.openxmlformats.org/drawingml/2006/main">
            <a:pPr algn="ctr">
              <a:defRPr sz="1350" b="1" i="0">
                <a:solidFill>
                  <a:srgbClr val="F8FBFF"/>
                </a:solidFill>
              </a:defRPr>
            </a:pPr>
            <a:r>
              <a:rPr sz="1350" b="1" i="0">
                <a:solidFill>
                  <a:srgbClr val="F8FBFF"/>
                </a:solidFill>
              </a:rPr>
              <a:t>Raw data</a:t>
            </a:r>
          </a:p>
        </p:txBody>
      </p:sp>
      <p:sp>
        <p:nvSpPr>
          <p:cNvPr id="6" name="">
            <a:extLst xmlns:a="http://schemas.openxmlformats.org/drawingml/2006/main">
              <a:ext uri="{FF2B5EF4-FFF2-40B4-BE49-F238E27FC236}">
                <a16:creationId xmlns:a16="http://schemas.microsoft.com/office/drawing/2014/main" id="{7F23E7DD-AC8F-455E-A64A-30CC826F761E}"/>
              </a:ext>
            </a:extLst>
          </p:cNvPr>
          <p:cNvSpPr>
            <a:spLocks xmlns:a="http://schemas.openxmlformats.org/drawingml/2006/main" noGrp="1"/>
          </p:cNvSpPr>
          <p:nvPr/>
        </p:nvSpPr>
        <p:spPr>
          <a:xfrm xmlns:a="http://schemas.openxmlformats.org/drawingml/2006/main">
            <a:off x="876300" y="489585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9FB3C8"/>
                </a:solidFill>
              </a:defRPr>
            </a:defPPr>
          </a:lstStyle>
          <a:p xmlns:a="http://schemas.openxmlformats.org/drawingml/2006/main">
            <a:pPr algn="ctr">
              <a:defRPr sz="975" b="0" i="0">
                <a:solidFill>
                  <a:srgbClr val="9FB3C8"/>
                </a:solidFill>
              </a:defRPr>
            </a:pPr>
            <a:r>
              <a:rPr sz="975" b="0" i="0">
                <a:solidFill>
                  <a:srgbClr val="9FB3C8"/>
                </a:solidFill>
              </a:rPr>
              <a:t>train/test files</a:t>
            </a:r>
          </a:p>
        </p:txBody>
      </p:sp>
      <p:sp>
        <p:nvSpPr>
          <p:cNvPr id="7" name="">
            <a:extLst xmlns:a="http://schemas.openxmlformats.org/drawingml/2006/main">
              <a:ext uri="{FF2B5EF4-FFF2-40B4-BE49-F238E27FC236}">
                <a16:creationId xmlns:a16="http://schemas.microsoft.com/office/drawing/2014/main" id="{2234A2E1-73F9-460C-BDB6-618DB4BCB540}"/>
              </a:ext>
            </a:extLst>
          </p:cNvPr>
          <p:cNvSpPr>
            <a:spLocks xmlns:a="http://schemas.openxmlformats.org/drawingml/2006/main" noGrp="1"/>
          </p:cNvSpPr>
          <p:nvPr/>
        </p:nvSpPr>
        <p:spPr>
          <a:xfrm xmlns:a="http://schemas.openxmlformats.org/drawingml/2006/main">
            <a:off x="2343150" y="4705350"/>
            <a:ext cx="457200" cy="304800"/>
          </a:xfrm>
          <a:prstGeom xmlns:a="http://schemas.openxmlformats.org/drawingml/2006/main" prst="rightArrow">
            <a:avLst/>
          </a:prstGeom>
          <a:solidFill xmlns:a="http://schemas.openxmlformats.org/drawingml/2006/main">
            <a:srgbClr val="18C6E8"/>
          </a:solidFill>
          <a:ln xmlns:a="http://schemas.openxmlformats.org/drawingml/2006/main" w="0">
            <a:solidFill>
              <a:srgbClr val="18C6E8"/>
            </a:solidFill>
            <a:prstDash val="solid"/>
          </a:ln>
        </p:spPr>
      </p:sp>
      <p:sp>
        <p:nvSpPr>
          <p:cNvPr id="8" name="">
            <a:extLst xmlns:a="http://schemas.openxmlformats.org/drawingml/2006/main">
              <a:ext uri="{FF2B5EF4-FFF2-40B4-BE49-F238E27FC236}">
                <a16:creationId xmlns:a16="http://schemas.microsoft.com/office/drawing/2014/main" id="{818D6EF3-9D8E-41F2-A623-D57FCA7E30B0}"/>
              </a:ext>
            </a:extLst>
          </p:cNvPr>
          <p:cNvSpPr>
            <a:spLocks xmlns:a="http://schemas.openxmlformats.org/drawingml/2006/main" noGrp="1"/>
          </p:cNvSpPr>
          <p:nvPr/>
        </p:nvSpPr>
        <p:spPr>
          <a:xfrm xmlns:a="http://schemas.openxmlformats.org/drawingml/2006/main">
            <a:off x="2857500" y="4476750"/>
            <a:ext cx="1524000" cy="762000"/>
          </a:xfrm>
          <a:prstGeom xmlns:a="http://schemas.openxmlformats.org/drawingml/2006/main" prst="roundRect">
            <a:avLst>
              <a:gd name="adj" fmla="val 10000"/>
            </a:avLst>
          </a:prstGeom>
          <a:solidFill xmlns:a="http://schemas.openxmlformats.org/drawingml/2006/main">
            <a:srgbClr val="081A30"/>
          </a:solidFill>
          <a:ln xmlns:a="http://schemas.openxmlformats.org/drawingml/2006/main" w="11430">
            <a:solidFill>
              <a:srgbClr val="1D466A"/>
            </a:solidFill>
            <a:prstDash val="solid"/>
          </a:ln>
        </p:spPr>
      </p:sp>
      <p:sp>
        <p:nvSpPr>
          <p:cNvPr id="9" name="">
            <a:extLst xmlns:a="http://schemas.openxmlformats.org/drawingml/2006/main">
              <a:ext uri="{FF2B5EF4-FFF2-40B4-BE49-F238E27FC236}">
                <a16:creationId xmlns:a16="http://schemas.microsoft.com/office/drawing/2014/main" id="{35A12113-9259-47C3-8DA0-0032C5413040}"/>
              </a:ext>
            </a:extLst>
          </p:cNvPr>
          <p:cNvSpPr>
            <a:spLocks xmlns:a="http://schemas.openxmlformats.org/drawingml/2006/main" noGrp="1"/>
          </p:cNvSpPr>
          <p:nvPr/>
        </p:nvSpPr>
        <p:spPr>
          <a:xfrm xmlns:a="http://schemas.openxmlformats.org/drawingml/2006/main">
            <a:off x="2990850" y="46101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8FBFF"/>
                </a:solidFill>
              </a:defRPr>
            </a:defPPr>
          </a:lstStyle>
          <a:p xmlns:a="http://schemas.openxmlformats.org/drawingml/2006/main">
            <a:pPr algn="ctr">
              <a:defRPr sz="1350" b="1" i="0">
                <a:solidFill>
                  <a:srgbClr val="F8FBFF"/>
                </a:solidFill>
              </a:defRPr>
            </a:pPr>
            <a:r>
              <a:rPr sz="1350" b="1" i="0">
                <a:solidFill>
                  <a:srgbClr val="F8FBFF"/>
                </a:solidFill>
              </a:rPr>
              <a:t>Split</a:t>
            </a:r>
          </a:p>
        </p:txBody>
      </p:sp>
      <p:sp>
        <p:nvSpPr>
          <p:cNvPr id="10" name="">
            <a:extLst xmlns:a="http://schemas.openxmlformats.org/drawingml/2006/main">
              <a:ext uri="{FF2B5EF4-FFF2-40B4-BE49-F238E27FC236}">
                <a16:creationId xmlns:a16="http://schemas.microsoft.com/office/drawing/2014/main" id="{ABFFC279-E12A-443F-9C55-B1146397A5D2}"/>
              </a:ext>
            </a:extLst>
          </p:cNvPr>
          <p:cNvSpPr>
            <a:spLocks xmlns:a="http://schemas.openxmlformats.org/drawingml/2006/main" noGrp="1"/>
          </p:cNvSpPr>
          <p:nvPr/>
        </p:nvSpPr>
        <p:spPr>
          <a:xfrm xmlns:a="http://schemas.openxmlformats.org/drawingml/2006/main">
            <a:off x="2971800" y="489585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9FB3C8"/>
                </a:solidFill>
              </a:defRPr>
            </a:defPPr>
          </a:lstStyle>
          <a:p xmlns:a="http://schemas.openxmlformats.org/drawingml/2006/main">
            <a:pPr algn="ctr">
              <a:defRPr sz="975" b="0" i="0">
                <a:solidFill>
                  <a:srgbClr val="9FB3C8"/>
                </a:solidFill>
              </a:defRPr>
            </a:pPr>
            <a:r>
              <a:rPr sz="975" b="0" i="0">
                <a:solidFill>
                  <a:srgbClr val="9FB3C8"/>
                </a:solidFill>
              </a:rPr>
              <a:t>80/20 split</a:t>
            </a:r>
          </a:p>
        </p:txBody>
      </p:sp>
      <p:sp>
        <p:nvSpPr>
          <p:cNvPr id="11" name="">
            <a:extLst xmlns:a="http://schemas.openxmlformats.org/drawingml/2006/main">
              <a:ext uri="{FF2B5EF4-FFF2-40B4-BE49-F238E27FC236}">
                <a16:creationId xmlns:a16="http://schemas.microsoft.com/office/drawing/2014/main" id="{01A2C965-25C7-4825-A299-32AAF76B7954}"/>
              </a:ext>
            </a:extLst>
          </p:cNvPr>
          <p:cNvSpPr>
            <a:spLocks xmlns:a="http://schemas.openxmlformats.org/drawingml/2006/main" noGrp="1"/>
          </p:cNvSpPr>
          <p:nvPr/>
        </p:nvSpPr>
        <p:spPr>
          <a:xfrm xmlns:a="http://schemas.openxmlformats.org/drawingml/2006/main">
            <a:off x="4438650" y="4705350"/>
            <a:ext cx="457200" cy="304800"/>
          </a:xfrm>
          <a:prstGeom xmlns:a="http://schemas.openxmlformats.org/drawingml/2006/main" prst="rightArrow">
            <a:avLst/>
          </a:prstGeom>
          <a:solidFill xmlns:a="http://schemas.openxmlformats.org/drawingml/2006/main">
            <a:srgbClr val="18C6E8"/>
          </a:solidFill>
          <a:ln xmlns:a="http://schemas.openxmlformats.org/drawingml/2006/main" w="0">
            <a:solidFill>
              <a:srgbClr val="18C6E8"/>
            </a:solidFill>
            <a:prstDash val="solid"/>
          </a:ln>
        </p:spPr>
      </p:sp>
      <p:sp>
        <p:nvSpPr>
          <p:cNvPr id="12" name="">
            <a:extLst xmlns:a="http://schemas.openxmlformats.org/drawingml/2006/main">
              <a:ext uri="{FF2B5EF4-FFF2-40B4-BE49-F238E27FC236}">
                <a16:creationId xmlns:a16="http://schemas.microsoft.com/office/drawing/2014/main" id="{FEE72FED-2DB7-45B7-B8D8-7D96ED140F4E}"/>
              </a:ext>
            </a:extLst>
          </p:cNvPr>
          <p:cNvSpPr>
            <a:spLocks xmlns:a="http://schemas.openxmlformats.org/drawingml/2006/main" noGrp="1"/>
          </p:cNvSpPr>
          <p:nvPr/>
        </p:nvSpPr>
        <p:spPr>
          <a:xfrm xmlns:a="http://schemas.openxmlformats.org/drawingml/2006/main">
            <a:off x="4953000" y="4476750"/>
            <a:ext cx="1524000" cy="762000"/>
          </a:xfrm>
          <a:prstGeom xmlns:a="http://schemas.openxmlformats.org/drawingml/2006/main" prst="roundRect">
            <a:avLst>
              <a:gd name="adj" fmla="val 10000"/>
            </a:avLst>
          </a:prstGeom>
          <a:solidFill xmlns:a="http://schemas.openxmlformats.org/drawingml/2006/main">
            <a:srgbClr val="081A30"/>
          </a:solidFill>
          <a:ln xmlns:a="http://schemas.openxmlformats.org/drawingml/2006/main" w="11430">
            <a:solidFill>
              <a:srgbClr val="18C6E8"/>
            </a:solidFill>
            <a:prstDash val="solid"/>
          </a:ln>
        </p:spPr>
      </p:sp>
      <p:sp>
        <p:nvSpPr>
          <p:cNvPr id="13" name="">
            <a:extLst xmlns:a="http://schemas.openxmlformats.org/drawingml/2006/main">
              <a:ext uri="{FF2B5EF4-FFF2-40B4-BE49-F238E27FC236}">
                <a16:creationId xmlns:a16="http://schemas.microsoft.com/office/drawing/2014/main" id="{4EAFB4BF-EC51-4A56-9E3F-D7B7409523CA}"/>
              </a:ext>
            </a:extLst>
          </p:cNvPr>
          <p:cNvSpPr>
            <a:spLocks xmlns:a="http://schemas.openxmlformats.org/drawingml/2006/main" noGrp="1"/>
          </p:cNvSpPr>
          <p:nvPr/>
        </p:nvSpPr>
        <p:spPr>
          <a:xfrm xmlns:a="http://schemas.openxmlformats.org/drawingml/2006/main">
            <a:off x="5086350" y="46101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18C6E8"/>
                </a:solidFill>
              </a:defRPr>
            </a:defPPr>
          </a:lstStyle>
          <a:p xmlns:a="http://schemas.openxmlformats.org/drawingml/2006/main">
            <a:pPr algn="ctr">
              <a:defRPr sz="1350" b="1" i="0">
                <a:solidFill>
                  <a:srgbClr val="18C6E8"/>
                </a:solidFill>
              </a:defRPr>
            </a:pPr>
            <a:r>
              <a:rPr sz="1350" b="1" i="0">
                <a:solidFill>
                  <a:srgbClr val="18C6E8"/>
                </a:solidFill>
              </a:rPr>
              <a:t>Pipeline</a:t>
            </a:r>
          </a:p>
        </p:txBody>
      </p:sp>
      <p:sp>
        <p:nvSpPr>
          <p:cNvPr id="14" name="">
            <a:extLst xmlns:a="http://schemas.openxmlformats.org/drawingml/2006/main">
              <a:ext uri="{FF2B5EF4-FFF2-40B4-BE49-F238E27FC236}">
                <a16:creationId xmlns:a16="http://schemas.microsoft.com/office/drawing/2014/main" id="{A900D8F1-D266-407D-85A4-4F7EFB8CED75}"/>
              </a:ext>
            </a:extLst>
          </p:cNvPr>
          <p:cNvSpPr>
            <a:spLocks xmlns:a="http://schemas.openxmlformats.org/drawingml/2006/main" noGrp="1"/>
          </p:cNvSpPr>
          <p:nvPr/>
        </p:nvSpPr>
        <p:spPr>
          <a:xfrm xmlns:a="http://schemas.openxmlformats.org/drawingml/2006/main">
            <a:off x="5067300" y="489585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9FB3C8"/>
                </a:solidFill>
              </a:defRPr>
            </a:defPPr>
          </a:lstStyle>
          <a:p xmlns:a="http://schemas.openxmlformats.org/drawingml/2006/main">
            <a:pPr algn="ctr">
              <a:defRPr sz="975" b="0" i="0">
                <a:solidFill>
                  <a:srgbClr val="9FB3C8"/>
                </a:solidFill>
              </a:defRPr>
            </a:pPr>
            <a:r>
              <a:rPr sz="975" b="0" i="0">
                <a:solidFill>
                  <a:srgbClr val="9FB3C8"/>
                </a:solidFill>
              </a:rPr>
              <a:t>impute, encode, scale</a:t>
            </a:r>
          </a:p>
        </p:txBody>
      </p:sp>
      <p:sp>
        <p:nvSpPr>
          <p:cNvPr id="15" name="">
            <a:extLst xmlns:a="http://schemas.openxmlformats.org/drawingml/2006/main">
              <a:ext uri="{FF2B5EF4-FFF2-40B4-BE49-F238E27FC236}">
                <a16:creationId xmlns:a16="http://schemas.microsoft.com/office/drawing/2014/main" id="{5F64FCDC-1A2A-4177-AB0A-ECC5A2ADCFDB}"/>
              </a:ext>
            </a:extLst>
          </p:cNvPr>
          <p:cNvSpPr>
            <a:spLocks xmlns:a="http://schemas.openxmlformats.org/drawingml/2006/main" noGrp="1"/>
          </p:cNvSpPr>
          <p:nvPr/>
        </p:nvSpPr>
        <p:spPr>
          <a:xfrm xmlns:a="http://schemas.openxmlformats.org/drawingml/2006/main">
            <a:off x="6534150" y="4705350"/>
            <a:ext cx="457200" cy="304800"/>
          </a:xfrm>
          <a:prstGeom xmlns:a="http://schemas.openxmlformats.org/drawingml/2006/main" prst="rightArrow">
            <a:avLst/>
          </a:prstGeom>
          <a:solidFill xmlns:a="http://schemas.openxmlformats.org/drawingml/2006/main">
            <a:srgbClr val="18C6E8"/>
          </a:solidFill>
          <a:ln xmlns:a="http://schemas.openxmlformats.org/drawingml/2006/main" w="0">
            <a:solidFill>
              <a:srgbClr val="18C6E8"/>
            </a:solidFill>
            <a:prstDash val="solid"/>
          </a:ln>
        </p:spPr>
      </p:sp>
      <p:sp>
        <p:nvSpPr>
          <p:cNvPr id="16" name="">
            <a:extLst xmlns:a="http://schemas.openxmlformats.org/drawingml/2006/main">
              <a:ext uri="{FF2B5EF4-FFF2-40B4-BE49-F238E27FC236}">
                <a16:creationId xmlns:a16="http://schemas.microsoft.com/office/drawing/2014/main" id="{0BAB1327-E3ED-4AA1-8FA9-E9B154DEBB6E}"/>
              </a:ext>
            </a:extLst>
          </p:cNvPr>
          <p:cNvSpPr>
            <a:spLocks xmlns:a="http://schemas.openxmlformats.org/drawingml/2006/main" noGrp="1"/>
          </p:cNvSpPr>
          <p:nvPr/>
        </p:nvSpPr>
        <p:spPr>
          <a:xfrm xmlns:a="http://schemas.openxmlformats.org/drawingml/2006/main">
            <a:off x="7048500" y="4476750"/>
            <a:ext cx="1524000" cy="762000"/>
          </a:xfrm>
          <a:prstGeom xmlns:a="http://schemas.openxmlformats.org/drawingml/2006/main" prst="roundRect">
            <a:avLst>
              <a:gd name="adj" fmla="val 10000"/>
            </a:avLst>
          </a:prstGeom>
          <a:solidFill xmlns:a="http://schemas.openxmlformats.org/drawingml/2006/main">
            <a:srgbClr val="081A30"/>
          </a:solidFill>
          <a:ln xmlns:a="http://schemas.openxmlformats.org/drawingml/2006/main" w="11430">
            <a:solidFill>
              <a:srgbClr val="1D466A"/>
            </a:solidFill>
            <a:prstDash val="solid"/>
          </a:ln>
        </p:spPr>
      </p:sp>
      <p:sp>
        <p:nvSpPr>
          <p:cNvPr id="17" name="">
            <a:extLst xmlns:a="http://schemas.openxmlformats.org/drawingml/2006/main">
              <a:ext uri="{FF2B5EF4-FFF2-40B4-BE49-F238E27FC236}">
                <a16:creationId xmlns:a16="http://schemas.microsoft.com/office/drawing/2014/main" id="{B64AC9AD-248C-4670-A8C8-65DA3C3CB31A}"/>
              </a:ext>
            </a:extLst>
          </p:cNvPr>
          <p:cNvSpPr>
            <a:spLocks xmlns:a="http://schemas.openxmlformats.org/drawingml/2006/main" noGrp="1"/>
          </p:cNvSpPr>
          <p:nvPr/>
        </p:nvSpPr>
        <p:spPr>
          <a:xfrm xmlns:a="http://schemas.openxmlformats.org/drawingml/2006/main">
            <a:off x="7181850" y="46101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8FBFF"/>
                </a:solidFill>
              </a:defRPr>
            </a:defPPr>
          </a:lstStyle>
          <a:p xmlns:a="http://schemas.openxmlformats.org/drawingml/2006/main">
            <a:pPr algn="ctr">
              <a:defRPr sz="1350" b="1" i="0">
                <a:solidFill>
                  <a:srgbClr val="F8FBFF"/>
                </a:solidFill>
              </a:defRPr>
            </a:pPr>
            <a:r>
              <a:rPr sz="1350" b="1" i="0">
                <a:solidFill>
                  <a:srgbClr val="F8FBFF"/>
                </a:solidFill>
              </a:rPr>
              <a:t>Validate</a:t>
            </a:r>
          </a:p>
        </p:txBody>
      </p:sp>
      <p:sp>
        <p:nvSpPr>
          <p:cNvPr id="18" name="">
            <a:extLst xmlns:a="http://schemas.openxmlformats.org/drawingml/2006/main">
              <a:ext uri="{FF2B5EF4-FFF2-40B4-BE49-F238E27FC236}">
                <a16:creationId xmlns:a16="http://schemas.microsoft.com/office/drawing/2014/main" id="{14A8C2BA-DF4E-4A25-A256-91531265D7C8}"/>
              </a:ext>
            </a:extLst>
          </p:cNvPr>
          <p:cNvSpPr>
            <a:spLocks xmlns:a="http://schemas.openxmlformats.org/drawingml/2006/main" noGrp="1"/>
          </p:cNvSpPr>
          <p:nvPr/>
        </p:nvSpPr>
        <p:spPr>
          <a:xfrm xmlns:a="http://schemas.openxmlformats.org/drawingml/2006/main">
            <a:off x="7162800" y="489585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9FB3C8"/>
                </a:solidFill>
              </a:defRPr>
            </a:defPPr>
          </a:lstStyle>
          <a:p xmlns:a="http://schemas.openxmlformats.org/drawingml/2006/main">
            <a:pPr algn="ctr">
              <a:defRPr sz="975" b="0" i="0">
                <a:solidFill>
                  <a:srgbClr val="9FB3C8"/>
                </a:solidFill>
              </a:defRPr>
            </a:pPr>
            <a:r>
              <a:rPr sz="975" b="0" i="0">
                <a:solidFill>
                  <a:srgbClr val="9FB3C8"/>
                </a:solidFill>
              </a:rPr>
              <a:t>same holdout set</a:t>
            </a:r>
          </a:p>
        </p:txBody>
      </p:sp>
      <p:sp>
        <p:nvSpPr>
          <p:cNvPr id="19" name="">
            <a:extLst xmlns:a="http://schemas.openxmlformats.org/drawingml/2006/main">
              <a:ext uri="{FF2B5EF4-FFF2-40B4-BE49-F238E27FC236}">
                <a16:creationId xmlns:a16="http://schemas.microsoft.com/office/drawing/2014/main" id="{ABB1FC53-634F-480C-9D6F-2E0ECD709B85}"/>
              </a:ext>
            </a:extLst>
          </p:cNvPr>
          <p:cNvSpPr>
            <a:spLocks xmlns:a="http://schemas.openxmlformats.org/drawingml/2006/main" noGrp="1"/>
          </p:cNvSpPr>
          <p:nvPr/>
        </p:nvSpPr>
        <p:spPr>
          <a:xfrm xmlns:a="http://schemas.openxmlformats.org/drawingml/2006/main">
            <a:off x="8629650" y="4705350"/>
            <a:ext cx="457200" cy="304800"/>
          </a:xfrm>
          <a:prstGeom xmlns:a="http://schemas.openxmlformats.org/drawingml/2006/main" prst="rightArrow">
            <a:avLst/>
          </a:prstGeom>
          <a:solidFill xmlns:a="http://schemas.openxmlformats.org/drawingml/2006/main">
            <a:srgbClr val="18C6E8"/>
          </a:solidFill>
          <a:ln xmlns:a="http://schemas.openxmlformats.org/drawingml/2006/main" w="0">
            <a:solidFill>
              <a:srgbClr val="18C6E8"/>
            </a:solidFill>
            <a:prstDash val="solid"/>
          </a:ln>
        </p:spPr>
      </p:sp>
      <p:sp>
        <p:nvSpPr>
          <p:cNvPr id="20" name="">
            <a:extLst xmlns:a="http://schemas.openxmlformats.org/drawingml/2006/main">
              <a:ext uri="{FF2B5EF4-FFF2-40B4-BE49-F238E27FC236}">
                <a16:creationId xmlns:a16="http://schemas.microsoft.com/office/drawing/2014/main" id="{2B95F603-6C6C-46C6-A8BB-9903D26DFC3C}"/>
              </a:ext>
            </a:extLst>
          </p:cNvPr>
          <p:cNvSpPr>
            <a:spLocks xmlns:a="http://schemas.openxmlformats.org/drawingml/2006/main" noGrp="1"/>
          </p:cNvSpPr>
          <p:nvPr/>
        </p:nvSpPr>
        <p:spPr>
          <a:xfrm xmlns:a="http://schemas.openxmlformats.org/drawingml/2006/main">
            <a:off x="9144000" y="4476750"/>
            <a:ext cx="1524000" cy="762000"/>
          </a:xfrm>
          <a:prstGeom xmlns:a="http://schemas.openxmlformats.org/drawingml/2006/main" prst="roundRect">
            <a:avLst>
              <a:gd name="adj" fmla="val 10000"/>
            </a:avLst>
          </a:prstGeom>
          <a:solidFill xmlns:a="http://schemas.openxmlformats.org/drawingml/2006/main">
            <a:srgbClr val="081A30"/>
          </a:solidFill>
          <a:ln xmlns:a="http://schemas.openxmlformats.org/drawingml/2006/main" w="11430">
            <a:solidFill>
              <a:srgbClr val="1D466A"/>
            </a:solidFill>
            <a:prstDash val="solid"/>
          </a:ln>
        </p:spPr>
      </p:sp>
      <p:sp>
        <p:nvSpPr>
          <p:cNvPr id="21" name="">
            <a:extLst xmlns:a="http://schemas.openxmlformats.org/drawingml/2006/main">
              <a:ext uri="{FF2B5EF4-FFF2-40B4-BE49-F238E27FC236}">
                <a16:creationId xmlns:a16="http://schemas.microsoft.com/office/drawing/2014/main" id="{D1FC7224-3DC8-4DFF-AB7F-FE9118679DF0}"/>
              </a:ext>
            </a:extLst>
          </p:cNvPr>
          <p:cNvSpPr>
            <a:spLocks xmlns:a="http://schemas.openxmlformats.org/drawingml/2006/main" noGrp="1"/>
          </p:cNvSpPr>
          <p:nvPr/>
        </p:nvSpPr>
        <p:spPr>
          <a:xfrm xmlns:a="http://schemas.openxmlformats.org/drawingml/2006/main">
            <a:off x="9277350" y="46101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8FBFF"/>
                </a:solidFill>
              </a:defRPr>
            </a:defPPr>
          </a:lstStyle>
          <a:p xmlns:a="http://schemas.openxmlformats.org/drawingml/2006/main">
            <a:pPr algn="ctr">
              <a:defRPr sz="1350" b="1" i="0">
                <a:solidFill>
                  <a:srgbClr val="F8FBFF"/>
                </a:solidFill>
              </a:defRPr>
            </a:pPr>
            <a:r>
              <a:rPr sz="1350" b="1" i="0">
                <a:solidFill>
                  <a:srgbClr val="F8FBFF"/>
                </a:solidFill>
              </a:rPr>
              <a:t>Predict</a:t>
            </a:r>
          </a:p>
        </p:txBody>
      </p:sp>
      <p:sp>
        <p:nvSpPr>
          <p:cNvPr id="22" name="">
            <a:extLst xmlns:a="http://schemas.openxmlformats.org/drawingml/2006/main">
              <a:ext uri="{FF2B5EF4-FFF2-40B4-BE49-F238E27FC236}">
                <a16:creationId xmlns:a16="http://schemas.microsoft.com/office/drawing/2014/main" id="{D0B17B82-0399-46EA-8104-FC12CD32CDE5}"/>
              </a:ext>
            </a:extLst>
          </p:cNvPr>
          <p:cNvSpPr>
            <a:spLocks xmlns:a="http://schemas.openxmlformats.org/drawingml/2006/main" noGrp="1"/>
          </p:cNvSpPr>
          <p:nvPr/>
        </p:nvSpPr>
        <p:spPr>
          <a:xfrm xmlns:a="http://schemas.openxmlformats.org/drawingml/2006/main">
            <a:off x="9258300" y="4895850"/>
            <a:ext cx="1295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0" i="0">
                <a:solidFill>
                  <a:srgbClr val="9FB3C8"/>
                </a:solidFill>
              </a:defRPr>
            </a:defPPr>
          </a:lstStyle>
          <a:p xmlns:a="http://schemas.openxmlformats.org/drawingml/2006/main">
            <a:pPr algn="ctr">
              <a:defRPr sz="975" b="0" i="0">
                <a:solidFill>
                  <a:srgbClr val="9FB3C8"/>
                </a:solidFill>
              </a:defRPr>
            </a:pPr>
            <a:r>
              <a:rPr sz="975" b="0" i="0">
                <a:solidFill>
                  <a:srgbClr val="9FB3C8"/>
                </a:solidFill>
              </a:rPr>
              <a:t>146 test rows</a:t>
            </a:r>
          </a:p>
        </p:txBody>
      </p:sp>
      <p:sp>
        <p:nvSpPr>
          <p:cNvPr id="23" name="">
            <a:extLst xmlns:a="http://schemas.openxmlformats.org/drawingml/2006/main">
              <a:ext uri="{FF2B5EF4-FFF2-40B4-BE49-F238E27FC236}">
                <a16:creationId xmlns:a16="http://schemas.microsoft.com/office/drawing/2014/main" id="{E39A63E9-A487-4D19-BAD8-452DB69FAD0C}"/>
              </a:ext>
            </a:extLst>
          </p:cNvPr>
          <p:cNvSpPr>
            <a:spLocks xmlns:a="http://schemas.openxmlformats.org/drawingml/2006/main" noGrp="1"/>
          </p:cNvSpPr>
          <p:nvPr/>
        </p:nvSpPr>
        <p:spPr>
          <a:xfrm xmlns:a="http://schemas.openxmlformats.org/drawingml/2006/main">
            <a:off x="6191250" y="1257300"/>
            <a:ext cx="4476750" cy="2095500"/>
          </a:xfrm>
          <a:prstGeom xmlns:a="http://schemas.openxmlformats.org/drawingml/2006/main" prst="roundRect">
            <a:avLst>
              <a:gd name="adj" fmla="val 5455"/>
            </a:avLst>
          </a:prstGeom>
          <a:solidFill xmlns:a="http://schemas.openxmlformats.org/drawingml/2006/main">
            <a:srgbClr val="081A30"/>
          </a:solidFill>
          <a:ln xmlns:a="http://schemas.openxmlformats.org/drawingml/2006/main" w="11430">
            <a:solidFill>
              <a:srgbClr val="1D466A"/>
            </a:solidFill>
            <a:prstDash val="solid"/>
          </a:ln>
        </p:spPr>
      </p:sp>
      <p:sp>
        <p:nvSpPr>
          <p:cNvPr id="24" name="">
            <a:extLst xmlns:a="http://schemas.openxmlformats.org/drawingml/2006/main">
              <a:ext uri="{FF2B5EF4-FFF2-40B4-BE49-F238E27FC236}">
                <a16:creationId xmlns:a16="http://schemas.microsoft.com/office/drawing/2014/main" id="{BB2DDA19-91DE-4E14-848E-8DE888C76EE5}"/>
              </a:ext>
            </a:extLst>
          </p:cNvPr>
          <p:cNvSpPr>
            <a:spLocks xmlns:a="http://schemas.openxmlformats.org/drawingml/2006/main" noGrp="1"/>
          </p:cNvSpPr>
          <p:nvPr/>
        </p:nvSpPr>
        <p:spPr>
          <a:xfrm xmlns:a="http://schemas.openxmlformats.org/drawingml/2006/main">
            <a:off x="6496050" y="1504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i="0">
                <a:solidFill>
                  <a:srgbClr val="18C6E8"/>
                </a:solidFill>
              </a:defRPr>
            </a:defPPr>
          </a:lstStyle>
          <a:p xmlns:a="http://schemas.openxmlformats.org/drawingml/2006/main">
            <a:pPr algn="l">
              <a:defRPr sz="1650" b="1" i="0">
                <a:solidFill>
                  <a:srgbClr val="18C6E8"/>
                </a:solidFill>
              </a:defRPr>
            </a:pPr>
            <a:r>
              <a:rPr sz="1650" b="1" i="0">
                <a:solidFill>
                  <a:srgbClr val="18C6E8"/>
                </a:solidFill>
              </a:rPr>
              <a:t>Leakage prevention</a:t>
            </a:r>
          </a:p>
        </p:txBody>
      </p:sp>
      <p:sp>
        <p:nvSpPr>
          <p:cNvPr id="25" name="">
            <a:extLst xmlns:a="http://schemas.openxmlformats.org/drawingml/2006/main">
              <a:ext uri="{FF2B5EF4-FFF2-40B4-BE49-F238E27FC236}">
                <a16:creationId xmlns:a16="http://schemas.microsoft.com/office/drawing/2014/main" id="{F77621A0-A280-45DE-B7A6-A680875048ED}"/>
              </a:ext>
            </a:extLst>
          </p:cNvPr>
          <p:cNvSpPr>
            <a:spLocks xmlns:a="http://schemas.openxmlformats.org/drawingml/2006/main" noGrp="1"/>
          </p:cNvSpPr>
          <p:nvPr/>
        </p:nvSpPr>
        <p:spPr>
          <a:xfrm xmlns:a="http://schemas.openxmlformats.org/drawingml/2006/main">
            <a:off x="6496050" y="1943100"/>
            <a:ext cx="3733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F8FBFF"/>
                </a:solidFill>
              </a:defRPr>
            </a:defPPr>
          </a:lstStyle>
          <a:p xmlns:a="http://schemas.openxmlformats.org/drawingml/2006/main">
            <a:pPr algn="l">
              <a:defRPr sz="1575" b="0" i="0">
                <a:solidFill>
                  <a:srgbClr val="F8FBFF"/>
                </a:solidFill>
              </a:defRPr>
            </a:pPr>
            <a:r>
              <a:rPr sz="1575" b="0" i="0">
                <a:solidFill>
                  <a:srgbClr val="F8FBFF"/>
                </a:solidFill>
              </a:rPr>
              <a:t>Imputers, encoders, scalers, and models were fitted only on training data inside scikit-learn pipelines. The test file did not influence model selection.</a:t>
            </a:r>
          </a:p>
        </p:txBody>
      </p:sp>
    </p:spTree>
    <p:extLst>
      <p:ext uri="{BB962C8B-B14F-4D97-AF65-F5344CB8AC3E}">
        <p14:creationId xmlns:p14="http://schemas.microsoft.com/office/powerpoint/2010/main" val="1190684208"/>
      </p:ext>
    </p:extLst>
  </p:cSld>
</p:sld>
</file>

<file path=ppt/slides/slide5.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476C5D7-7D95-4FAC-8CA2-2549B2331CA1}"/>
              </a:ext>
            </a:extLst>
          </p:cNvPr>
          <p:cNvSpPr>
            <a:spLocks xmlns:a="http://schemas.openxmlformats.org/drawingml/2006/main" noGrp="1"/>
          </p:cNvSpPr>
          <p:nvPr/>
        </p:nvSpPr>
        <p:spPr>
          <a:xfrm xmlns:a="http://schemas.openxmlformats.org/drawingml/2006/main">
            <a:off x="571500" y="381000"/>
            <a:ext cx="838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i="0">
                <a:solidFill>
                  <a:srgbClr val="F8FBFF"/>
                </a:solidFill>
              </a:defRPr>
            </a:defPPr>
          </a:lstStyle>
          <a:p xmlns:a="http://schemas.openxmlformats.org/drawingml/2006/main">
            <a:pPr algn="l">
              <a:defRPr sz="2400" b="1" i="0">
                <a:solidFill>
                  <a:srgbClr val="F8FBFF"/>
                </a:solidFill>
              </a:defRPr>
            </a:pPr>
            <a:r>
              <a:rPr sz="2400" b="1" i="0">
                <a:solidFill>
                  <a:srgbClr val="F8FBFF"/>
                </a:solidFill>
              </a:rPr>
              <a:t>Machine Learning Models</a:t>
            </a:r>
          </a:p>
        </p:txBody>
      </p:sp>
      <p:sp>
        <p:nvSpPr>
          <p:cNvPr id="2" name="">
            <a:extLst xmlns:a="http://schemas.openxmlformats.org/drawingml/2006/main">
              <a:ext uri="{FF2B5EF4-FFF2-40B4-BE49-F238E27FC236}">
                <a16:creationId xmlns:a16="http://schemas.microsoft.com/office/drawing/2014/main" id="{3EAB2A63-98E6-4B78-8DDE-77995BB1B624}"/>
              </a:ext>
            </a:extLst>
          </p:cNvPr>
          <p:cNvSpPr>
            <a:spLocks xmlns:a="http://schemas.openxmlformats.org/drawingml/2006/main" noGrp="1"/>
          </p:cNvSpPr>
          <p:nvPr/>
        </p:nvSpPr>
        <p:spPr>
          <a:xfrm xmlns:a="http://schemas.openxmlformats.org/drawingml/2006/main">
            <a:off x="571500" y="952500"/>
            <a:ext cx="17145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sp>
        <p:nvSpPr>
          <p:cNvPr id="3" name="">
            <a:extLst xmlns:a="http://schemas.openxmlformats.org/drawingml/2006/main">
              <a:ext uri="{FF2B5EF4-FFF2-40B4-BE49-F238E27FC236}">
                <a16:creationId xmlns:a16="http://schemas.microsoft.com/office/drawing/2014/main" id="{13CF3F1D-46DF-482A-A4E5-653FDAA38D37}"/>
              </a:ext>
            </a:extLst>
          </p:cNvPr>
          <p:cNvSpPr>
            <a:spLocks xmlns:a="http://schemas.openxmlformats.org/drawingml/2006/main" noGrp="1"/>
          </p:cNvSpPr>
          <p:nvPr/>
        </p:nvSpPr>
        <p:spPr>
          <a:xfrm xmlns:a="http://schemas.openxmlformats.org/drawingml/2006/main">
            <a:off x="666750" y="1181100"/>
            <a:ext cx="590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i="0">
                <a:solidFill>
                  <a:srgbClr val="F8FBFF"/>
                </a:solidFill>
              </a:defRPr>
            </a:defPPr>
          </a:lstStyle>
          <a:p xmlns:a="http://schemas.openxmlformats.org/drawingml/2006/main">
            <a:pPr algn="l">
              <a:defRPr sz="1800" b="0" i="0">
                <a:solidFill>
                  <a:srgbClr val="F8FBFF"/>
                </a:solidFill>
              </a:defRPr>
            </a:pPr>
            <a:r>
              <a:rPr sz="1800" b="0" i="0">
                <a:solidFill>
                  <a:srgbClr val="F8FBFF"/>
                </a:solidFill>
              </a:rPr>
              <a:t>Six algorithms were evaluated on the same validation split.</a:t>
            </a:r>
          </a:p>
        </p:txBody>
      </p:sp>
      <p:sp>
        <p:nvSpPr>
          <p:cNvPr id="4" name="">
            <a:extLst xmlns:a="http://schemas.openxmlformats.org/drawingml/2006/main">
              <a:ext uri="{FF2B5EF4-FFF2-40B4-BE49-F238E27FC236}">
                <a16:creationId xmlns:a16="http://schemas.microsoft.com/office/drawing/2014/main" id="{6760212A-D65B-45FE-8E6E-DE44D7D9C9ED}"/>
              </a:ext>
            </a:extLst>
          </p:cNvPr>
          <p:cNvSpPr>
            <a:spLocks xmlns:a="http://schemas.openxmlformats.org/drawingml/2006/main" noGrp="1"/>
          </p:cNvSpPr>
          <p:nvPr/>
        </p:nvSpPr>
        <p:spPr>
          <a:xfrm xmlns:a="http://schemas.openxmlformats.org/drawingml/2006/main">
            <a:off x="762000" y="1828800"/>
            <a:ext cx="4476750" cy="781050"/>
          </a:xfrm>
          <a:prstGeom xmlns:a="http://schemas.openxmlformats.org/drawingml/2006/main" prst="roundRect">
            <a:avLst>
              <a:gd name="adj" fmla="val 9756"/>
            </a:avLst>
          </a:prstGeom>
          <a:solidFill xmlns:a="http://schemas.openxmlformats.org/drawingml/2006/main">
            <a:srgbClr val="081A30"/>
          </a:solidFill>
          <a:ln xmlns:a="http://schemas.openxmlformats.org/drawingml/2006/main" w="11430">
            <a:solidFill>
              <a:srgbClr val="1D466A"/>
            </a:solidFill>
            <a:prstDash val="solid"/>
          </a:ln>
        </p:spPr>
      </p:sp>
      <p:sp>
        <p:nvSpPr>
          <p:cNvPr id="5" name="">
            <a:extLst xmlns:a="http://schemas.openxmlformats.org/drawingml/2006/main">
              <a:ext uri="{FF2B5EF4-FFF2-40B4-BE49-F238E27FC236}">
                <a16:creationId xmlns:a16="http://schemas.microsoft.com/office/drawing/2014/main" id="{D051DB1C-753C-4CE0-AEA2-707339DF2FCB}"/>
              </a:ext>
            </a:extLst>
          </p:cNvPr>
          <p:cNvSpPr>
            <a:spLocks xmlns:a="http://schemas.openxmlformats.org/drawingml/2006/main" noGrp="1"/>
          </p:cNvSpPr>
          <p:nvPr/>
        </p:nvSpPr>
        <p:spPr>
          <a:xfrm xmlns:a="http://schemas.openxmlformats.org/drawingml/2006/main">
            <a:off x="990600" y="19812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F8FBFF"/>
                </a:solidFill>
              </a:defRPr>
            </a:defPPr>
          </a:lstStyle>
          <a:p xmlns:a="http://schemas.openxmlformats.org/drawingml/2006/main">
            <a:pPr algn="l">
              <a:defRPr sz="1575" b="1" i="0">
                <a:solidFill>
                  <a:srgbClr val="F8FBFF"/>
                </a:solidFill>
              </a:defRPr>
            </a:pPr>
            <a:r>
              <a:rPr sz="1575" b="1" i="0">
                <a:solidFill>
                  <a:srgbClr val="F8FBFF"/>
                </a:solidFill>
              </a:rPr>
              <a:t>Dummy Regressor</a:t>
            </a:r>
          </a:p>
        </p:txBody>
      </p:sp>
      <p:sp>
        <p:nvSpPr>
          <p:cNvPr id="6" name="">
            <a:extLst xmlns:a="http://schemas.openxmlformats.org/drawingml/2006/main">
              <a:ext uri="{FF2B5EF4-FFF2-40B4-BE49-F238E27FC236}">
                <a16:creationId xmlns:a16="http://schemas.microsoft.com/office/drawing/2014/main" id="{5519505D-6A7A-410F-8EDA-FF88DA32498A}"/>
              </a:ext>
            </a:extLst>
          </p:cNvPr>
          <p:cNvSpPr>
            <a:spLocks xmlns:a="http://schemas.openxmlformats.org/drawingml/2006/main" noGrp="1"/>
          </p:cNvSpPr>
          <p:nvPr/>
        </p:nvSpPr>
        <p:spPr>
          <a:xfrm xmlns:a="http://schemas.openxmlformats.org/drawingml/2006/main">
            <a:off x="990600" y="22860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9FB3C8"/>
                </a:solidFill>
              </a:defRPr>
            </a:defPPr>
          </a:lstStyle>
          <a:p xmlns:a="http://schemas.openxmlformats.org/drawingml/2006/main">
            <a:pPr algn="l">
              <a:defRPr sz="1200" b="0" i="0">
                <a:solidFill>
                  <a:srgbClr val="9FB3C8"/>
                </a:solidFill>
              </a:defRPr>
            </a:pPr>
            <a:r>
              <a:rPr sz="1200" b="0" i="0">
                <a:solidFill>
                  <a:srgbClr val="9FB3C8"/>
                </a:solidFill>
              </a:rPr>
              <a:t>Median-price baseline</a:t>
            </a:r>
          </a:p>
        </p:txBody>
      </p:sp>
      <p:sp>
        <p:nvSpPr>
          <p:cNvPr id="7" name="">
            <a:extLst xmlns:a="http://schemas.openxmlformats.org/drawingml/2006/main">
              <a:ext uri="{FF2B5EF4-FFF2-40B4-BE49-F238E27FC236}">
                <a16:creationId xmlns:a16="http://schemas.microsoft.com/office/drawing/2014/main" id="{EE4ECFEE-0919-4FC7-B826-F218DEADF3E4}"/>
              </a:ext>
            </a:extLst>
          </p:cNvPr>
          <p:cNvSpPr>
            <a:spLocks xmlns:a="http://schemas.openxmlformats.org/drawingml/2006/main" noGrp="1"/>
          </p:cNvSpPr>
          <p:nvPr/>
        </p:nvSpPr>
        <p:spPr>
          <a:xfrm xmlns:a="http://schemas.openxmlformats.org/drawingml/2006/main">
            <a:off x="762000" y="2952750"/>
            <a:ext cx="4476750" cy="781050"/>
          </a:xfrm>
          <a:prstGeom xmlns:a="http://schemas.openxmlformats.org/drawingml/2006/main" prst="roundRect">
            <a:avLst>
              <a:gd name="adj" fmla="val 9756"/>
            </a:avLst>
          </a:prstGeom>
          <a:solidFill xmlns:a="http://schemas.openxmlformats.org/drawingml/2006/main">
            <a:srgbClr val="081A30"/>
          </a:solidFill>
          <a:ln xmlns:a="http://schemas.openxmlformats.org/drawingml/2006/main" w="11430">
            <a:solidFill>
              <a:srgbClr val="1D466A"/>
            </a:solidFill>
            <a:prstDash val="solid"/>
          </a:ln>
        </p:spPr>
      </p:sp>
      <p:sp>
        <p:nvSpPr>
          <p:cNvPr id="8" name="">
            <a:extLst xmlns:a="http://schemas.openxmlformats.org/drawingml/2006/main">
              <a:ext uri="{FF2B5EF4-FFF2-40B4-BE49-F238E27FC236}">
                <a16:creationId xmlns:a16="http://schemas.microsoft.com/office/drawing/2014/main" id="{27180D2E-28B9-4D2F-893A-F6DA984D56C2}"/>
              </a:ext>
            </a:extLst>
          </p:cNvPr>
          <p:cNvSpPr>
            <a:spLocks xmlns:a="http://schemas.openxmlformats.org/drawingml/2006/main" noGrp="1"/>
          </p:cNvSpPr>
          <p:nvPr/>
        </p:nvSpPr>
        <p:spPr>
          <a:xfrm xmlns:a="http://schemas.openxmlformats.org/drawingml/2006/main">
            <a:off x="990600" y="3105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F8FBFF"/>
                </a:solidFill>
              </a:defRPr>
            </a:defPPr>
          </a:lstStyle>
          <a:p xmlns:a="http://schemas.openxmlformats.org/drawingml/2006/main">
            <a:pPr algn="l">
              <a:defRPr sz="1575" b="1" i="0">
                <a:solidFill>
                  <a:srgbClr val="F8FBFF"/>
                </a:solidFill>
              </a:defRPr>
            </a:pPr>
            <a:r>
              <a:rPr sz="1575" b="1" i="0">
                <a:solidFill>
                  <a:srgbClr val="F8FBFF"/>
                </a:solidFill>
              </a:rPr>
              <a:t>Ridge Regression</a:t>
            </a:r>
          </a:p>
        </p:txBody>
      </p:sp>
      <p:sp>
        <p:nvSpPr>
          <p:cNvPr id="9" name="">
            <a:extLst xmlns:a="http://schemas.openxmlformats.org/drawingml/2006/main">
              <a:ext uri="{FF2B5EF4-FFF2-40B4-BE49-F238E27FC236}">
                <a16:creationId xmlns:a16="http://schemas.microsoft.com/office/drawing/2014/main" id="{BBA20C53-CC54-415C-B0B2-0BEA0062C220}"/>
              </a:ext>
            </a:extLst>
          </p:cNvPr>
          <p:cNvSpPr>
            <a:spLocks xmlns:a="http://schemas.openxmlformats.org/drawingml/2006/main" noGrp="1"/>
          </p:cNvSpPr>
          <p:nvPr/>
        </p:nvSpPr>
        <p:spPr>
          <a:xfrm xmlns:a="http://schemas.openxmlformats.org/drawingml/2006/main">
            <a:off x="990600" y="34099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9FB3C8"/>
                </a:solidFill>
              </a:defRPr>
            </a:defPPr>
          </a:lstStyle>
          <a:p xmlns:a="http://schemas.openxmlformats.org/drawingml/2006/main">
            <a:pPr algn="l">
              <a:defRPr sz="1200" b="0" i="0">
                <a:solidFill>
                  <a:srgbClr val="9FB3C8"/>
                </a:solidFill>
              </a:defRPr>
            </a:pPr>
            <a:r>
              <a:rPr sz="1200" b="0" i="0">
                <a:solidFill>
                  <a:srgbClr val="9FB3C8"/>
                </a:solidFill>
              </a:rPr>
              <a:t>Regularized linear model</a:t>
            </a:r>
          </a:p>
        </p:txBody>
      </p:sp>
      <p:sp>
        <p:nvSpPr>
          <p:cNvPr id="10" name="">
            <a:extLst xmlns:a="http://schemas.openxmlformats.org/drawingml/2006/main">
              <a:ext uri="{FF2B5EF4-FFF2-40B4-BE49-F238E27FC236}">
                <a16:creationId xmlns:a16="http://schemas.microsoft.com/office/drawing/2014/main" id="{20902148-7412-424B-B1BE-5529B0029DA5}"/>
              </a:ext>
            </a:extLst>
          </p:cNvPr>
          <p:cNvSpPr>
            <a:spLocks xmlns:a="http://schemas.openxmlformats.org/drawingml/2006/main" noGrp="1"/>
          </p:cNvSpPr>
          <p:nvPr/>
        </p:nvSpPr>
        <p:spPr>
          <a:xfrm xmlns:a="http://schemas.openxmlformats.org/drawingml/2006/main">
            <a:off x="762000" y="4076700"/>
            <a:ext cx="4476750" cy="781050"/>
          </a:xfrm>
          <a:prstGeom xmlns:a="http://schemas.openxmlformats.org/drawingml/2006/main" prst="roundRect">
            <a:avLst>
              <a:gd name="adj" fmla="val 9756"/>
            </a:avLst>
          </a:prstGeom>
          <a:solidFill xmlns:a="http://schemas.openxmlformats.org/drawingml/2006/main">
            <a:srgbClr val="081A30"/>
          </a:solidFill>
          <a:ln xmlns:a="http://schemas.openxmlformats.org/drawingml/2006/main" w="11430">
            <a:solidFill>
              <a:srgbClr val="1D466A"/>
            </a:solidFill>
            <a:prstDash val="solid"/>
          </a:ln>
        </p:spPr>
      </p:sp>
      <p:sp>
        <p:nvSpPr>
          <p:cNvPr id="11" name="">
            <a:extLst xmlns:a="http://schemas.openxmlformats.org/drawingml/2006/main">
              <a:ext uri="{FF2B5EF4-FFF2-40B4-BE49-F238E27FC236}">
                <a16:creationId xmlns:a16="http://schemas.microsoft.com/office/drawing/2014/main" id="{3DCFB37B-A652-4627-AD37-55A2AACEDF73}"/>
              </a:ext>
            </a:extLst>
          </p:cNvPr>
          <p:cNvSpPr>
            <a:spLocks xmlns:a="http://schemas.openxmlformats.org/drawingml/2006/main" noGrp="1"/>
          </p:cNvSpPr>
          <p:nvPr/>
        </p:nvSpPr>
        <p:spPr>
          <a:xfrm xmlns:a="http://schemas.openxmlformats.org/drawingml/2006/main">
            <a:off x="990600" y="42291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F8FBFF"/>
                </a:solidFill>
              </a:defRPr>
            </a:defPPr>
          </a:lstStyle>
          <a:p xmlns:a="http://schemas.openxmlformats.org/drawingml/2006/main">
            <a:pPr algn="l">
              <a:defRPr sz="1575" b="1" i="0">
                <a:solidFill>
                  <a:srgbClr val="F8FBFF"/>
                </a:solidFill>
              </a:defRPr>
            </a:pPr>
            <a:r>
              <a:rPr sz="1575" b="1" i="0">
                <a:solidFill>
                  <a:srgbClr val="F8FBFF"/>
                </a:solidFill>
              </a:rPr>
              <a:t>Decision Tree</a:t>
            </a:r>
          </a:p>
        </p:txBody>
      </p:sp>
      <p:sp>
        <p:nvSpPr>
          <p:cNvPr id="12" name="">
            <a:extLst xmlns:a="http://schemas.openxmlformats.org/drawingml/2006/main">
              <a:ext uri="{FF2B5EF4-FFF2-40B4-BE49-F238E27FC236}">
                <a16:creationId xmlns:a16="http://schemas.microsoft.com/office/drawing/2014/main" id="{2193FCEB-0163-406C-84E0-E76678AB07CE}"/>
              </a:ext>
            </a:extLst>
          </p:cNvPr>
          <p:cNvSpPr>
            <a:spLocks xmlns:a="http://schemas.openxmlformats.org/drawingml/2006/main" noGrp="1"/>
          </p:cNvSpPr>
          <p:nvPr/>
        </p:nvSpPr>
        <p:spPr>
          <a:xfrm xmlns:a="http://schemas.openxmlformats.org/drawingml/2006/main">
            <a:off x="990600" y="45339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9FB3C8"/>
                </a:solidFill>
              </a:defRPr>
            </a:defPPr>
          </a:lstStyle>
          <a:p xmlns:a="http://schemas.openxmlformats.org/drawingml/2006/main">
            <a:pPr algn="l">
              <a:defRPr sz="1200" b="0" i="0">
                <a:solidFill>
                  <a:srgbClr val="9FB3C8"/>
                </a:solidFill>
              </a:defRPr>
            </a:pPr>
            <a:r>
              <a:rPr sz="1200" b="0" i="0">
                <a:solidFill>
                  <a:srgbClr val="9FB3C8"/>
                </a:solidFill>
              </a:rPr>
              <a:t>Single nonlinear tree</a:t>
            </a:r>
          </a:p>
        </p:txBody>
      </p:sp>
      <p:sp>
        <p:nvSpPr>
          <p:cNvPr id="13" name="">
            <a:extLst xmlns:a="http://schemas.openxmlformats.org/drawingml/2006/main">
              <a:ext uri="{FF2B5EF4-FFF2-40B4-BE49-F238E27FC236}">
                <a16:creationId xmlns:a16="http://schemas.microsoft.com/office/drawing/2014/main" id="{F68A33A9-8D29-41EA-912F-AC693B5A0815}"/>
              </a:ext>
            </a:extLst>
          </p:cNvPr>
          <p:cNvSpPr>
            <a:spLocks xmlns:a="http://schemas.openxmlformats.org/drawingml/2006/main" noGrp="1"/>
          </p:cNvSpPr>
          <p:nvPr/>
        </p:nvSpPr>
        <p:spPr>
          <a:xfrm xmlns:a="http://schemas.openxmlformats.org/drawingml/2006/main">
            <a:off x="6572250" y="1828800"/>
            <a:ext cx="4476750" cy="781050"/>
          </a:xfrm>
          <a:prstGeom xmlns:a="http://schemas.openxmlformats.org/drawingml/2006/main" prst="roundRect">
            <a:avLst>
              <a:gd name="adj" fmla="val 9756"/>
            </a:avLst>
          </a:prstGeom>
          <a:solidFill xmlns:a="http://schemas.openxmlformats.org/drawingml/2006/main">
            <a:srgbClr val="081A30"/>
          </a:solidFill>
          <a:ln xmlns:a="http://schemas.openxmlformats.org/drawingml/2006/main" w="11430">
            <a:solidFill>
              <a:srgbClr val="1D466A"/>
            </a:solidFill>
            <a:prstDash val="solid"/>
          </a:ln>
        </p:spPr>
      </p:sp>
      <p:sp>
        <p:nvSpPr>
          <p:cNvPr id="14" name="">
            <a:extLst xmlns:a="http://schemas.openxmlformats.org/drawingml/2006/main">
              <a:ext uri="{FF2B5EF4-FFF2-40B4-BE49-F238E27FC236}">
                <a16:creationId xmlns:a16="http://schemas.microsoft.com/office/drawing/2014/main" id="{58B3C808-97A7-4CB1-9089-4633C40AC210}"/>
              </a:ext>
            </a:extLst>
          </p:cNvPr>
          <p:cNvSpPr>
            <a:spLocks xmlns:a="http://schemas.openxmlformats.org/drawingml/2006/main" noGrp="1"/>
          </p:cNvSpPr>
          <p:nvPr/>
        </p:nvSpPr>
        <p:spPr>
          <a:xfrm xmlns:a="http://schemas.openxmlformats.org/drawingml/2006/main">
            <a:off x="6800850" y="19812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F8FBFF"/>
                </a:solidFill>
              </a:defRPr>
            </a:defPPr>
          </a:lstStyle>
          <a:p xmlns:a="http://schemas.openxmlformats.org/drawingml/2006/main">
            <a:pPr algn="l">
              <a:defRPr sz="1575" b="1" i="0">
                <a:solidFill>
                  <a:srgbClr val="F8FBFF"/>
                </a:solidFill>
              </a:defRPr>
            </a:pPr>
            <a:r>
              <a:rPr sz="1575" b="1" i="0">
                <a:solidFill>
                  <a:srgbClr val="F8FBFF"/>
                </a:solidFill>
              </a:rPr>
              <a:t>Random Forest</a:t>
            </a:r>
          </a:p>
        </p:txBody>
      </p:sp>
      <p:sp>
        <p:nvSpPr>
          <p:cNvPr id="15" name="">
            <a:extLst xmlns:a="http://schemas.openxmlformats.org/drawingml/2006/main">
              <a:ext uri="{FF2B5EF4-FFF2-40B4-BE49-F238E27FC236}">
                <a16:creationId xmlns:a16="http://schemas.microsoft.com/office/drawing/2014/main" id="{9EAF8CEA-0F98-49E1-AB29-0E4DB1BB4B6C}"/>
              </a:ext>
            </a:extLst>
          </p:cNvPr>
          <p:cNvSpPr>
            <a:spLocks xmlns:a="http://schemas.openxmlformats.org/drawingml/2006/main" noGrp="1"/>
          </p:cNvSpPr>
          <p:nvPr/>
        </p:nvSpPr>
        <p:spPr>
          <a:xfrm xmlns:a="http://schemas.openxmlformats.org/drawingml/2006/main">
            <a:off x="6800850" y="22860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9FB3C8"/>
                </a:solidFill>
              </a:defRPr>
            </a:defPPr>
          </a:lstStyle>
          <a:p xmlns:a="http://schemas.openxmlformats.org/drawingml/2006/main">
            <a:pPr algn="l">
              <a:defRPr sz="1200" b="0" i="0">
                <a:solidFill>
                  <a:srgbClr val="9FB3C8"/>
                </a:solidFill>
              </a:defRPr>
            </a:pPr>
            <a:r>
              <a:rPr sz="1200" b="0" i="0">
                <a:solidFill>
                  <a:srgbClr val="9FB3C8"/>
                </a:solidFill>
              </a:rPr>
              <a:t>Bagged tree ensemble</a:t>
            </a:r>
          </a:p>
        </p:txBody>
      </p:sp>
      <p:sp>
        <p:nvSpPr>
          <p:cNvPr id="16" name="">
            <a:extLst xmlns:a="http://schemas.openxmlformats.org/drawingml/2006/main">
              <a:ext uri="{FF2B5EF4-FFF2-40B4-BE49-F238E27FC236}">
                <a16:creationId xmlns:a16="http://schemas.microsoft.com/office/drawing/2014/main" id="{B076073F-7B13-4812-A9EC-0A573CD3D192}"/>
              </a:ext>
            </a:extLst>
          </p:cNvPr>
          <p:cNvSpPr>
            <a:spLocks xmlns:a="http://schemas.openxmlformats.org/drawingml/2006/main" noGrp="1"/>
          </p:cNvSpPr>
          <p:nvPr/>
        </p:nvSpPr>
        <p:spPr>
          <a:xfrm xmlns:a="http://schemas.openxmlformats.org/drawingml/2006/main">
            <a:off x="6572250" y="2952750"/>
            <a:ext cx="4476750" cy="781050"/>
          </a:xfrm>
          <a:prstGeom xmlns:a="http://schemas.openxmlformats.org/drawingml/2006/main" prst="roundRect">
            <a:avLst>
              <a:gd name="adj" fmla="val 9756"/>
            </a:avLst>
          </a:prstGeom>
          <a:solidFill xmlns:a="http://schemas.openxmlformats.org/drawingml/2006/main">
            <a:srgbClr val="08263A"/>
          </a:solidFill>
          <a:ln xmlns:a="http://schemas.openxmlformats.org/drawingml/2006/main" w="11430">
            <a:solidFill>
              <a:srgbClr val="18C6E8"/>
            </a:solidFill>
            <a:prstDash val="solid"/>
          </a:ln>
        </p:spPr>
      </p:sp>
      <p:sp>
        <p:nvSpPr>
          <p:cNvPr id="17" name="">
            <a:extLst xmlns:a="http://schemas.openxmlformats.org/drawingml/2006/main">
              <a:ext uri="{FF2B5EF4-FFF2-40B4-BE49-F238E27FC236}">
                <a16:creationId xmlns:a16="http://schemas.microsoft.com/office/drawing/2014/main" id="{81EEF480-4AE4-40B2-800E-7C008991216C}"/>
              </a:ext>
            </a:extLst>
          </p:cNvPr>
          <p:cNvSpPr>
            <a:spLocks xmlns:a="http://schemas.openxmlformats.org/drawingml/2006/main" noGrp="1"/>
          </p:cNvSpPr>
          <p:nvPr/>
        </p:nvSpPr>
        <p:spPr>
          <a:xfrm xmlns:a="http://schemas.openxmlformats.org/drawingml/2006/main">
            <a:off x="6800850" y="3105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18C6E8"/>
                </a:solidFill>
              </a:defRPr>
            </a:defPPr>
          </a:lstStyle>
          <a:p xmlns:a="http://schemas.openxmlformats.org/drawingml/2006/main">
            <a:pPr algn="l">
              <a:defRPr sz="1575" b="1" i="0">
                <a:solidFill>
                  <a:srgbClr val="18C6E8"/>
                </a:solidFill>
              </a:defRPr>
            </a:pPr>
            <a:r>
              <a:rPr sz="1575" b="1" i="0">
                <a:solidFill>
                  <a:srgbClr val="18C6E8"/>
                </a:solidFill>
              </a:rPr>
              <a:t>Extra Trees</a:t>
            </a:r>
          </a:p>
        </p:txBody>
      </p:sp>
      <p:sp>
        <p:nvSpPr>
          <p:cNvPr id="18" name="">
            <a:extLst xmlns:a="http://schemas.openxmlformats.org/drawingml/2006/main">
              <a:ext uri="{FF2B5EF4-FFF2-40B4-BE49-F238E27FC236}">
                <a16:creationId xmlns:a16="http://schemas.microsoft.com/office/drawing/2014/main" id="{397836F6-01C7-4558-90BB-D07B7642F085}"/>
              </a:ext>
            </a:extLst>
          </p:cNvPr>
          <p:cNvSpPr>
            <a:spLocks xmlns:a="http://schemas.openxmlformats.org/drawingml/2006/main" noGrp="1"/>
          </p:cNvSpPr>
          <p:nvPr/>
        </p:nvSpPr>
        <p:spPr>
          <a:xfrm xmlns:a="http://schemas.openxmlformats.org/drawingml/2006/main">
            <a:off x="6800850" y="34099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9FB3C8"/>
                </a:solidFill>
              </a:defRPr>
            </a:defPPr>
          </a:lstStyle>
          <a:p xmlns:a="http://schemas.openxmlformats.org/drawingml/2006/main">
            <a:pPr algn="l">
              <a:defRPr sz="1200" b="0" i="0">
                <a:solidFill>
                  <a:srgbClr val="9FB3C8"/>
                </a:solidFill>
              </a:defRPr>
            </a:pPr>
            <a:r>
              <a:rPr sz="1200" b="0" i="0">
                <a:solidFill>
                  <a:srgbClr val="9FB3C8"/>
                </a:solidFill>
              </a:rPr>
              <a:t>More randomized tree ensemble</a:t>
            </a:r>
          </a:p>
        </p:txBody>
      </p:sp>
      <p:sp>
        <p:nvSpPr>
          <p:cNvPr id="19" name="">
            <a:extLst xmlns:a="http://schemas.openxmlformats.org/drawingml/2006/main">
              <a:ext uri="{FF2B5EF4-FFF2-40B4-BE49-F238E27FC236}">
                <a16:creationId xmlns:a16="http://schemas.microsoft.com/office/drawing/2014/main" id="{D376CD32-3643-4B08-87A2-0E358D694AE4}"/>
              </a:ext>
            </a:extLst>
          </p:cNvPr>
          <p:cNvSpPr>
            <a:spLocks xmlns:a="http://schemas.openxmlformats.org/drawingml/2006/main" noGrp="1"/>
          </p:cNvSpPr>
          <p:nvPr/>
        </p:nvSpPr>
        <p:spPr>
          <a:xfrm xmlns:a="http://schemas.openxmlformats.org/drawingml/2006/main">
            <a:off x="6572250" y="4076700"/>
            <a:ext cx="4476750" cy="781050"/>
          </a:xfrm>
          <a:prstGeom xmlns:a="http://schemas.openxmlformats.org/drawingml/2006/main" prst="roundRect">
            <a:avLst>
              <a:gd name="adj" fmla="val 9756"/>
            </a:avLst>
          </a:prstGeom>
          <a:solidFill xmlns:a="http://schemas.openxmlformats.org/drawingml/2006/main">
            <a:srgbClr val="081A30"/>
          </a:solidFill>
          <a:ln xmlns:a="http://schemas.openxmlformats.org/drawingml/2006/main" w="11430">
            <a:solidFill>
              <a:srgbClr val="1D466A"/>
            </a:solidFill>
            <a:prstDash val="solid"/>
          </a:ln>
        </p:spPr>
      </p:sp>
      <p:sp>
        <p:nvSpPr>
          <p:cNvPr id="20" name="">
            <a:extLst xmlns:a="http://schemas.openxmlformats.org/drawingml/2006/main">
              <a:ext uri="{FF2B5EF4-FFF2-40B4-BE49-F238E27FC236}">
                <a16:creationId xmlns:a16="http://schemas.microsoft.com/office/drawing/2014/main" id="{0453DF5B-6320-469E-92DD-AC76221B3F07}"/>
              </a:ext>
            </a:extLst>
          </p:cNvPr>
          <p:cNvSpPr>
            <a:spLocks xmlns:a="http://schemas.openxmlformats.org/drawingml/2006/main" noGrp="1"/>
          </p:cNvSpPr>
          <p:nvPr/>
        </p:nvSpPr>
        <p:spPr>
          <a:xfrm xmlns:a="http://schemas.openxmlformats.org/drawingml/2006/main">
            <a:off x="6800850" y="42291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F8FBFF"/>
                </a:solidFill>
              </a:defRPr>
            </a:defPPr>
          </a:lstStyle>
          <a:p xmlns:a="http://schemas.openxmlformats.org/drawingml/2006/main">
            <a:pPr algn="l">
              <a:defRPr sz="1575" b="1" i="0">
                <a:solidFill>
                  <a:srgbClr val="F8FBFF"/>
                </a:solidFill>
              </a:defRPr>
            </a:pPr>
            <a:r>
              <a:rPr sz="1575" b="1" i="0">
                <a:solidFill>
                  <a:srgbClr val="F8FBFF"/>
                </a:solidFill>
              </a:rPr>
              <a:t>Gradient Boosting</a:t>
            </a:r>
          </a:p>
        </p:txBody>
      </p:sp>
      <p:sp>
        <p:nvSpPr>
          <p:cNvPr id="21" name="">
            <a:extLst xmlns:a="http://schemas.openxmlformats.org/drawingml/2006/main">
              <a:ext uri="{FF2B5EF4-FFF2-40B4-BE49-F238E27FC236}">
                <a16:creationId xmlns:a16="http://schemas.microsoft.com/office/drawing/2014/main" id="{089936DA-4C24-4F4A-8478-9BFDB288E9C9}"/>
              </a:ext>
            </a:extLst>
          </p:cNvPr>
          <p:cNvSpPr>
            <a:spLocks xmlns:a="http://schemas.openxmlformats.org/drawingml/2006/main" noGrp="1"/>
          </p:cNvSpPr>
          <p:nvPr/>
        </p:nvSpPr>
        <p:spPr>
          <a:xfrm xmlns:a="http://schemas.openxmlformats.org/drawingml/2006/main">
            <a:off x="6800850" y="453390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9FB3C8"/>
                </a:solidFill>
              </a:defRPr>
            </a:defPPr>
          </a:lstStyle>
          <a:p xmlns:a="http://schemas.openxmlformats.org/drawingml/2006/main">
            <a:pPr algn="l">
              <a:defRPr sz="1200" b="0" i="0">
                <a:solidFill>
                  <a:srgbClr val="9FB3C8"/>
                </a:solidFill>
              </a:defRPr>
            </a:pPr>
            <a:r>
              <a:rPr sz="1200" b="0" i="0">
                <a:solidFill>
                  <a:srgbClr val="9FB3C8"/>
                </a:solidFill>
              </a:rPr>
              <a:t>Sequential error-correcting trees</a:t>
            </a:r>
          </a:p>
        </p:txBody>
      </p:sp>
      <p:sp>
        <p:nvSpPr>
          <p:cNvPr id="22" name="">
            <a:extLst xmlns:a="http://schemas.openxmlformats.org/drawingml/2006/main">
              <a:ext uri="{FF2B5EF4-FFF2-40B4-BE49-F238E27FC236}">
                <a16:creationId xmlns:a16="http://schemas.microsoft.com/office/drawing/2014/main" id="{D38E6389-E537-41E9-B787-4D0177AA5365}"/>
              </a:ext>
            </a:extLst>
          </p:cNvPr>
          <p:cNvSpPr>
            <a:spLocks xmlns:a="http://schemas.openxmlformats.org/drawingml/2006/main" noGrp="1"/>
          </p:cNvSpPr>
          <p:nvPr/>
        </p:nvSpPr>
        <p:spPr>
          <a:xfrm xmlns:a="http://schemas.openxmlformats.org/drawingml/2006/main">
            <a:off x="876300" y="558165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0" i="0">
                <a:solidFill>
                  <a:srgbClr val="F8FBFF"/>
                </a:solidFill>
              </a:defRPr>
            </a:defPPr>
          </a:lstStyle>
          <a:p xmlns:a="http://schemas.openxmlformats.org/drawingml/2006/main">
            <a:pPr algn="ctr">
              <a:defRPr sz="1500" b="0" i="0">
                <a:solidFill>
                  <a:srgbClr val="F8FBFF"/>
                </a:solidFill>
              </a:defRPr>
            </a:pPr>
            <a:r>
              <a:rPr sz="1500" b="0" i="0">
                <a:solidFill>
                  <a:srgbClr val="F8FBFF"/>
                </a:solidFill>
              </a:rPr>
              <a:t>The baseline sets a minimum standard. The tree ensembles test nonlinear relationships and interactions that are common in housing data.</a:t>
            </a:r>
          </a:p>
        </p:txBody>
      </p:sp>
    </p:spTree>
    <p:extLst>
      <p:ext uri="{BB962C8B-B14F-4D97-AF65-F5344CB8AC3E}">
        <p14:creationId xmlns:p14="http://schemas.microsoft.com/office/powerpoint/2010/main" val="80346454"/>
      </p:ext>
    </p:extLst>
  </p:cSld>
</p:sld>
</file>

<file path=ppt/slides/slide6.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C3094C-8D8A-416A-84B8-86788F43D55D}"/>
              </a:ext>
            </a:extLst>
          </p:cNvPr>
          <p:cNvSpPr>
            <a:spLocks xmlns:a="http://schemas.openxmlformats.org/drawingml/2006/main" noGrp="1"/>
          </p:cNvSpPr>
          <p:nvPr/>
        </p:nvSpPr>
        <p:spPr>
          <a:xfrm xmlns:a="http://schemas.openxmlformats.org/drawingml/2006/main">
            <a:off x="571500" y="381000"/>
            <a:ext cx="838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i="0">
                <a:solidFill>
                  <a:srgbClr val="F8FBFF"/>
                </a:solidFill>
              </a:defRPr>
            </a:defPPr>
          </a:lstStyle>
          <a:p xmlns:a="http://schemas.openxmlformats.org/drawingml/2006/main">
            <a:pPr algn="l">
              <a:defRPr sz="2400" b="1" i="0">
                <a:solidFill>
                  <a:srgbClr val="F8FBFF"/>
                </a:solidFill>
              </a:defRPr>
            </a:pPr>
            <a:r>
              <a:rPr sz="2400" b="1" i="0">
                <a:solidFill>
                  <a:srgbClr val="F8FBFF"/>
                </a:solidFill>
              </a:rPr>
              <a:t>Model Performance Comparison</a:t>
            </a:r>
          </a:p>
        </p:txBody>
      </p:sp>
      <p:sp>
        <p:nvSpPr>
          <p:cNvPr id="2" name="">
            <a:extLst xmlns:a="http://schemas.openxmlformats.org/drawingml/2006/main">
              <a:ext uri="{FF2B5EF4-FFF2-40B4-BE49-F238E27FC236}">
                <a16:creationId xmlns:a16="http://schemas.microsoft.com/office/drawing/2014/main" id="{61C54C8B-5D11-4D0F-9239-D22AF852D7D3}"/>
              </a:ext>
            </a:extLst>
          </p:cNvPr>
          <p:cNvSpPr>
            <a:spLocks xmlns:a="http://schemas.openxmlformats.org/drawingml/2006/main" noGrp="1"/>
          </p:cNvSpPr>
          <p:nvPr/>
        </p:nvSpPr>
        <p:spPr>
          <a:xfrm xmlns:a="http://schemas.openxmlformats.org/drawingml/2006/main">
            <a:off x="571500" y="952500"/>
            <a:ext cx="17145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graphicFrame>
        <p:nvGraphicFramePr>
          <p:cNvPr id="3" name="">
            <a:extLst xmlns:a="http://schemas.openxmlformats.org/drawingml/2006/main">
              <a:ext uri="{FF2B5EF4-FFF2-40B4-BE49-F238E27FC236}">
                <a16:creationId xmlns:a16="http://schemas.microsoft.com/office/drawing/2014/main" id="{915F8D2C-19B1-4AD0-9EF8-38F94A81AF40}"/>
              </a:ext>
            </a:extLst>
          </p:cNvPr>
          <p:cNvGraphicFramePr/>
          <p:nvPr/>
        </p:nvGraphicFramePr>
        <p:xfrm>
          <a:off xmlns:a="http://schemas.openxmlformats.org/drawingml/2006/main" x="533400" y="1238250"/>
          <a:ext xmlns:a="http://schemas.openxmlformats.org/drawingml/2006/main" cx="5810250" cy="3200400"/>
        </p:xfrm>
        <a:graphic xmlns:a="http://schemas.openxmlformats.org/drawingml/2006/main">
          <a:graphicData uri="http://schemas.openxmlformats.org/drawingml/2006/table">
            <a:tbl>
              <a:tblPr firstRow="1" bandRow="1"/>
              <a:tblGrid>
                <a:gridCol w="552450"/>
                <a:gridCol w="2182483"/>
                <a:gridCol w="1140843"/>
                <a:gridCol w="1140843"/>
                <a:gridCol w="793630"/>
              </a:tblGrid>
              <a:tr h="457200">
                <a:tc>
                  <a:txBody>
                    <a:bodyPr/>
                    <a:lstStyle/>
                    <a:p>
                      <a:r>
                        <a:rPr sz="975" b="1">
                          <a:solidFill>
                            <a:srgbClr val="F8FBFF"/>
                          </a:solidFill>
                        </a:rPr>
                        <a:t>Rank</a:t>
                      </a:r>
                    </a:p>
                  </a:txBody>
                  <a:tcPr marL="91440" marR="91440" marT="45720" marB="45720">
                    <a:solidFill>
                      <a:srgbClr val="0E3151"/>
                    </a:solidFill>
                  </a:tcPr>
                </a:tc>
                <a:tc>
                  <a:txBody>
                    <a:bodyPr/>
                    <a:lstStyle/>
                    <a:p>
                      <a:r>
                        <a:rPr sz="975" b="1">
                          <a:solidFill>
                            <a:srgbClr val="F8FBFF"/>
                          </a:solidFill>
                        </a:rPr>
                        <a:t>Model</a:t>
                      </a:r>
                    </a:p>
                  </a:txBody>
                  <a:tcPr marL="91440" marR="91440" marT="45720" marB="45720">
                    <a:solidFill>
                      <a:srgbClr val="0E3151"/>
                    </a:solidFill>
                  </a:tcPr>
                </a:tc>
                <a:tc>
                  <a:txBody>
                    <a:bodyPr/>
                    <a:lstStyle/>
                    <a:p>
                      <a:r>
                        <a:rPr sz="975" b="1">
                          <a:solidFill>
                            <a:srgbClr val="F8FBFF"/>
                          </a:solidFill>
                        </a:rPr>
                        <a:t>MAE</a:t>
                      </a:r>
                    </a:p>
                  </a:txBody>
                  <a:tcPr marL="91440" marR="91440" marT="45720" marB="45720">
                    <a:solidFill>
                      <a:srgbClr val="0E3151"/>
                    </a:solidFill>
                  </a:tcPr>
                </a:tc>
                <a:tc>
                  <a:txBody>
                    <a:bodyPr/>
                    <a:lstStyle/>
                    <a:p>
                      <a:r>
                        <a:rPr sz="975" b="1">
                          <a:solidFill>
                            <a:srgbClr val="F8FBFF"/>
                          </a:solidFill>
                        </a:rPr>
                        <a:t>RMSE</a:t>
                      </a:r>
                    </a:p>
                  </a:txBody>
                  <a:tcPr marL="91440" marR="91440" marT="45720" marB="45720">
                    <a:solidFill>
                      <a:srgbClr val="0E3151"/>
                    </a:solidFill>
                  </a:tcPr>
                </a:tc>
                <a:tc>
                  <a:txBody>
                    <a:bodyPr/>
                    <a:lstStyle/>
                    <a:p>
                      <a:r>
                        <a:rPr sz="975" b="1">
                          <a:solidFill>
                            <a:srgbClr val="F8FBFF"/>
                          </a:solidFill>
                        </a:rPr>
                        <a:t>R2</a:t>
                      </a:r>
                    </a:p>
                  </a:txBody>
                  <a:tcPr marL="91440" marR="91440" marT="45720" marB="45720">
                    <a:solidFill>
                      <a:srgbClr val="0E3151"/>
                    </a:solidFill>
                  </a:tcPr>
                </a:tc>
              </a:tr>
              <a:tr h="457200">
                <a:tc>
                  <a:txBody>
                    <a:bodyPr/>
                    <a:lstStyle/>
                    <a:p>
                      <a:r>
                        <a:rPr sz="900" b="1">
                          <a:solidFill>
                            <a:srgbClr val="18C6E8"/>
                          </a:solidFill>
                        </a:rPr>
                        <a:t>1</a:t>
                      </a:r>
                    </a:p>
                  </a:txBody>
                  <a:tcPr marL="91440" marR="91440" marT="45720" marB="45720">
                    <a:solidFill>
                      <a:srgbClr val="07314A"/>
                    </a:solidFill>
                  </a:tcPr>
                </a:tc>
                <a:tc>
                  <a:txBody>
                    <a:bodyPr/>
                    <a:lstStyle/>
                    <a:p>
                      <a:r>
                        <a:rPr sz="900" b="1">
                          <a:solidFill>
                            <a:srgbClr val="18C6E8"/>
                          </a:solidFill>
                        </a:rPr>
                        <a:t>Extra Trees Regressor</a:t>
                      </a:r>
                    </a:p>
                  </a:txBody>
                  <a:tcPr marL="91440" marR="91440" marT="45720" marB="45720">
                    <a:solidFill>
                      <a:srgbClr val="07314A"/>
                    </a:solidFill>
                  </a:tcPr>
                </a:tc>
                <a:tc>
                  <a:txBody>
                    <a:bodyPr/>
                    <a:lstStyle/>
                    <a:p>
                      <a:r>
                        <a:rPr sz="900" b="1">
                          <a:solidFill>
                            <a:srgbClr val="18C6E8"/>
                          </a:solidFill>
                        </a:rPr>
                        <a:t>$20,128</a:t>
                      </a:r>
                    </a:p>
                  </a:txBody>
                  <a:tcPr marL="91440" marR="91440" marT="45720" marB="45720">
                    <a:solidFill>
                      <a:srgbClr val="07314A"/>
                    </a:solidFill>
                  </a:tcPr>
                </a:tc>
                <a:tc>
                  <a:txBody>
                    <a:bodyPr/>
                    <a:lstStyle/>
                    <a:p>
                      <a:r>
                        <a:rPr sz="900" b="1">
                          <a:solidFill>
                            <a:srgbClr val="18C6E8"/>
                          </a:solidFill>
                        </a:rPr>
                        <a:t>$43,995</a:t>
                      </a:r>
                    </a:p>
                  </a:txBody>
                  <a:tcPr marL="91440" marR="91440" marT="45720" marB="45720">
                    <a:solidFill>
                      <a:srgbClr val="07314A"/>
                    </a:solidFill>
                  </a:tcPr>
                </a:tc>
                <a:tc>
                  <a:txBody>
                    <a:bodyPr/>
                    <a:lstStyle/>
                    <a:p>
                      <a:r>
                        <a:rPr sz="900" b="1">
                          <a:solidFill>
                            <a:srgbClr val="18C6E8"/>
                          </a:solidFill>
                        </a:rPr>
                        <a:t>0.7399</a:t>
                      </a:r>
                    </a:p>
                  </a:txBody>
                  <a:tcPr marL="91440" marR="91440" marT="45720" marB="45720">
                    <a:solidFill>
                      <a:srgbClr val="07314A"/>
                    </a:solidFill>
                  </a:tcPr>
                </a:tc>
              </a:tr>
              <a:tr h="457200">
                <a:tc>
                  <a:txBody>
                    <a:bodyPr/>
                    <a:lstStyle/>
                    <a:p>
                      <a:r>
                        <a:rPr sz="825">
                          <a:solidFill>
                            <a:srgbClr val="F8FBFF"/>
                          </a:solidFill>
                        </a:rPr>
                        <a:t>2</a:t>
                      </a:r>
                    </a:p>
                  </a:txBody>
                  <a:tcPr marL="91440" marR="91440" marT="45720" marB="45720">
                    <a:solidFill>
                      <a:srgbClr val="081A30"/>
                    </a:solidFill>
                  </a:tcPr>
                </a:tc>
                <a:tc>
                  <a:txBody>
                    <a:bodyPr/>
                    <a:lstStyle/>
                    <a:p>
                      <a:r>
                        <a:rPr sz="825">
                          <a:solidFill>
                            <a:srgbClr val="F8FBFF"/>
                          </a:solidFill>
                        </a:rPr>
                        <a:t>Gradient Boosting Regressor</a:t>
                      </a:r>
                    </a:p>
                  </a:txBody>
                  <a:tcPr marL="91440" marR="91440" marT="45720" marB="45720">
                    <a:solidFill>
                      <a:srgbClr val="081A30"/>
                    </a:solidFill>
                  </a:tcPr>
                </a:tc>
                <a:tc>
                  <a:txBody>
                    <a:bodyPr/>
                    <a:lstStyle/>
                    <a:p>
                      <a:r>
                        <a:rPr sz="825">
                          <a:solidFill>
                            <a:srgbClr val="F8FBFF"/>
                          </a:solidFill>
                        </a:rPr>
                        <a:t>$18,015</a:t>
                      </a:r>
                    </a:p>
                  </a:txBody>
                  <a:tcPr marL="91440" marR="91440" marT="45720" marB="45720">
                    <a:solidFill>
                      <a:srgbClr val="081A30"/>
                    </a:solidFill>
                  </a:tcPr>
                </a:tc>
                <a:tc>
                  <a:txBody>
                    <a:bodyPr/>
                    <a:lstStyle/>
                    <a:p>
                      <a:r>
                        <a:rPr sz="825">
                          <a:solidFill>
                            <a:srgbClr val="F8FBFF"/>
                          </a:solidFill>
                        </a:rPr>
                        <a:t>$45,116</a:t>
                      </a:r>
                    </a:p>
                  </a:txBody>
                  <a:tcPr marL="91440" marR="91440" marT="45720" marB="45720">
                    <a:solidFill>
                      <a:srgbClr val="081A30"/>
                    </a:solidFill>
                  </a:tcPr>
                </a:tc>
                <a:tc>
                  <a:txBody>
                    <a:bodyPr/>
                    <a:lstStyle/>
                    <a:p>
                      <a:r>
                        <a:rPr sz="825">
                          <a:solidFill>
                            <a:srgbClr val="F8FBFF"/>
                          </a:solidFill>
                        </a:rPr>
                        <a:t>0.7265</a:t>
                      </a:r>
                    </a:p>
                  </a:txBody>
                  <a:tcPr marL="91440" marR="91440" marT="45720" marB="45720">
                    <a:solidFill>
                      <a:srgbClr val="081A30"/>
                    </a:solidFill>
                  </a:tcPr>
                </a:tc>
              </a:tr>
              <a:tr h="457200">
                <a:tc>
                  <a:txBody>
                    <a:bodyPr/>
                    <a:lstStyle/>
                    <a:p>
                      <a:r>
                        <a:rPr sz="825">
                          <a:solidFill>
                            <a:srgbClr val="F8FBFF"/>
                          </a:solidFill>
                        </a:rPr>
                        <a:t>3</a:t>
                      </a:r>
                    </a:p>
                  </a:txBody>
                  <a:tcPr marL="91440" marR="91440" marT="45720" marB="45720">
                    <a:solidFill>
                      <a:srgbClr val="081A30"/>
                    </a:solidFill>
                  </a:tcPr>
                </a:tc>
                <a:tc>
                  <a:txBody>
                    <a:bodyPr/>
                    <a:lstStyle/>
                    <a:p>
                      <a:r>
                        <a:rPr sz="825">
                          <a:solidFill>
                            <a:srgbClr val="F8FBFF"/>
                          </a:solidFill>
                        </a:rPr>
                        <a:t>Random Forest Regressor</a:t>
                      </a:r>
                    </a:p>
                  </a:txBody>
                  <a:tcPr marL="91440" marR="91440" marT="45720" marB="45720">
                    <a:solidFill>
                      <a:srgbClr val="081A30"/>
                    </a:solidFill>
                  </a:tcPr>
                </a:tc>
                <a:tc>
                  <a:txBody>
                    <a:bodyPr/>
                    <a:lstStyle/>
                    <a:p>
                      <a:r>
                        <a:rPr sz="825">
                          <a:solidFill>
                            <a:srgbClr val="F8FBFF"/>
                          </a:solidFill>
                        </a:rPr>
                        <a:t>$19,130</a:t>
                      </a:r>
                    </a:p>
                  </a:txBody>
                  <a:tcPr marL="91440" marR="91440" marT="45720" marB="45720">
                    <a:solidFill>
                      <a:srgbClr val="081A30"/>
                    </a:solidFill>
                  </a:tcPr>
                </a:tc>
                <a:tc>
                  <a:txBody>
                    <a:bodyPr/>
                    <a:lstStyle/>
                    <a:p>
                      <a:r>
                        <a:rPr sz="825">
                          <a:solidFill>
                            <a:srgbClr val="F8FBFF"/>
                          </a:solidFill>
                        </a:rPr>
                        <a:t>$45,691</a:t>
                      </a:r>
                    </a:p>
                  </a:txBody>
                  <a:tcPr marL="91440" marR="91440" marT="45720" marB="45720">
                    <a:solidFill>
                      <a:srgbClr val="081A30"/>
                    </a:solidFill>
                  </a:tcPr>
                </a:tc>
                <a:tc>
                  <a:txBody>
                    <a:bodyPr/>
                    <a:lstStyle/>
                    <a:p>
                      <a:r>
                        <a:rPr sz="825">
                          <a:solidFill>
                            <a:srgbClr val="F8FBFF"/>
                          </a:solidFill>
                        </a:rPr>
                        <a:t>0.7194</a:t>
                      </a:r>
                    </a:p>
                  </a:txBody>
                  <a:tcPr marL="91440" marR="91440" marT="45720" marB="45720">
                    <a:solidFill>
                      <a:srgbClr val="081A30"/>
                    </a:solidFill>
                  </a:tcPr>
                </a:tc>
              </a:tr>
              <a:tr h="457200">
                <a:tc>
                  <a:txBody>
                    <a:bodyPr/>
                    <a:lstStyle/>
                    <a:p>
                      <a:r>
                        <a:rPr sz="825">
                          <a:solidFill>
                            <a:srgbClr val="F8FBFF"/>
                          </a:solidFill>
                        </a:rPr>
                        <a:t>4</a:t>
                      </a:r>
                    </a:p>
                  </a:txBody>
                  <a:tcPr marL="91440" marR="91440" marT="45720" marB="45720">
                    <a:solidFill>
                      <a:srgbClr val="081A30"/>
                    </a:solidFill>
                  </a:tcPr>
                </a:tc>
                <a:tc>
                  <a:txBody>
                    <a:bodyPr/>
                    <a:lstStyle/>
                    <a:p>
                      <a:r>
                        <a:rPr sz="825">
                          <a:solidFill>
                            <a:srgbClr val="F8FBFF"/>
                          </a:solidFill>
                        </a:rPr>
                        <a:t>Decision Tree Regressor</a:t>
                      </a:r>
                    </a:p>
                  </a:txBody>
                  <a:tcPr marL="91440" marR="91440" marT="45720" marB="45720">
                    <a:solidFill>
                      <a:srgbClr val="081A30"/>
                    </a:solidFill>
                  </a:tcPr>
                </a:tc>
                <a:tc>
                  <a:txBody>
                    <a:bodyPr/>
                    <a:lstStyle/>
                    <a:p>
                      <a:r>
                        <a:rPr sz="825">
                          <a:solidFill>
                            <a:srgbClr val="F8FBFF"/>
                          </a:solidFill>
                        </a:rPr>
                        <a:t>$27,700</a:t>
                      </a:r>
                    </a:p>
                  </a:txBody>
                  <a:tcPr marL="91440" marR="91440" marT="45720" marB="45720">
                    <a:solidFill>
                      <a:srgbClr val="081A30"/>
                    </a:solidFill>
                  </a:tcPr>
                </a:tc>
                <a:tc>
                  <a:txBody>
                    <a:bodyPr/>
                    <a:lstStyle/>
                    <a:p>
                      <a:r>
                        <a:rPr sz="825">
                          <a:solidFill>
                            <a:srgbClr val="F8FBFF"/>
                          </a:solidFill>
                        </a:rPr>
                        <a:t>$52,413</a:t>
                      </a:r>
                    </a:p>
                  </a:txBody>
                  <a:tcPr marL="91440" marR="91440" marT="45720" marB="45720">
                    <a:solidFill>
                      <a:srgbClr val="081A30"/>
                    </a:solidFill>
                  </a:tcPr>
                </a:tc>
                <a:tc>
                  <a:txBody>
                    <a:bodyPr/>
                    <a:lstStyle/>
                    <a:p>
                      <a:r>
                        <a:rPr sz="825">
                          <a:solidFill>
                            <a:srgbClr val="F8FBFF"/>
                          </a:solidFill>
                        </a:rPr>
                        <a:t>0.6308</a:t>
                      </a:r>
                    </a:p>
                  </a:txBody>
                  <a:tcPr marL="91440" marR="91440" marT="45720" marB="45720">
                    <a:solidFill>
                      <a:srgbClr val="081A30"/>
                    </a:solidFill>
                  </a:tcPr>
                </a:tc>
              </a:tr>
              <a:tr h="457200">
                <a:tc>
                  <a:txBody>
                    <a:bodyPr/>
                    <a:lstStyle/>
                    <a:p>
                      <a:r>
                        <a:rPr sz="825">
                          <a:solidFill>
                            <a:srgbClr val="F8FBFF"/>
                          </a:solidFill>
                        </a:rPr>
                        <a:t>5</a:t>
                      </a:r>
                    </a:p>
                  </a:txBody>
                  <a:tcPr marL="91440" marR="91440" marT="45720" marB="45720">
                    <a:solidFill>
                      <a:srgbClr val="081A30"/>
                    </a:solidFill>
                  </a:tcPr>
                </a:tc>
                <a:tc>
                  <a:txBody>
                    <a:bodyPr/>
                    <a:lstStyle/>
                    <a:p>
                      <a:r>
                        <a:rPr sz="825">
                          <a:solidFill>
                            <a:srgbClr val="F8FBFF"/>
                          </a:solidFill>
                        </a:rPr>
                        <a:t>Dummy Regressor</a:t>
                      </a:r>
                    </a:p>
                  </a:txBody>
                  <a:tcPr marL="91440" marR="91440" marT="45720" marB="45720">
                    <a:solidFill>
                      <a:srgbClr val="081A30"/>
                    </a:solidFill>
                  </a:tcPr>
                </a:tc>
                <a:tc>
                  <a:txBody>
                    <a:bodyPr/>
                    <a:lstStyle/>
                    <a:p>
                      <a:r>
                        <a:rPr sz="825">
                          <a:solidFill>
                            <a:srgbClr val="F8FBFF"/>
                          </a:solidFill>
                        </a:rPr>
                        <a:t>$56,855</a:t>
                      </a:r>
                    </a:p>
                  </a:txBody>
                  <a:tcPr marL="91440" marR="91440" marT="45720" marB="45720">
                    <a:solidFill>
                      <a:srgbClr val="081A30"/>
                    </a:solidFill>
                  </a:tcPr>
                </a:tc>
                <a:tc>
                  <a:txBody>
                    <a:bodyPr/>
                    <a:lstStyle/>
                    <a:p>
                      <a:r>
                        <a:rPr sz="825">
                          <a:solidFill>
                            <a:srgbClr val="F8FBFF"/>
                          </a:solidFill>
                        </a:rPr>
                        <a:t>$88,721</a:t>
                      </a:r>
                    </a:p>
                  </a:txBody>
                  <a:tcPr marL="91440" marR="91440" marT="45720" marB="45720">
                    <a:solidFill>
                      <a:srgbClr val="081A30"/>
                    </a:solidFill>
                  </a:tcPr>
                </a:tc>
                <a:tc>
                  <a:txBody>
                    <a:bodyPr/>
                    <a:lstStyle/>
                    <a:p>
                      <a:r>
                        <a:rPr sz="825">
                          <a:solidFill>
                            <a:srgbClr val="F8FBFF"/>
                          </a:solidFill>
                        </a:rPr>
                        <a:t>-0.0578</a:t>
                      </a:r>
                    </a:p>
                  </a:txBody>
                  <a:tcPr marL="91440" marR="91440" marT="45720" marB="45720">
                    <a:solidFill>
                      <a:srgbClr val="081A30"/>
                    </a:solidFill>
                  </a:tcPr>
                </a:tc>
              </a:tr>
              <a:tr h="457200">
                <a:tc>
                  <a:txBody>
                    <a:bodyPr/>
                    <a:lstStyle/>
                    <a:p>
                      <a:r>
                        <a:rPr sz="825">
                          <a:solidFill>
                            <a:srgbClr val="F8FBFF"/>
                          </a:solidFill>
                        </a:rPr>
                        <a:t>6</a:t>
                      </a:r>
                    </a:p>
                  </a:txBody>
                  <a:tcPr marL="91440" marR="91440" marT="45720" marB="45720">
                    <a:solidFill>
                      <a:srgbClr val="081A30"/>
                    </a:solidFill>
                  </a:tcPr>
                </a:tc>
                <a:tc>
                  <a:txBody>
                    <a:bodyPr/>
                    <a:lstStyle/>
                    <a:p>
                      <a:r>
                        <a:rPr sz="825">
                          <a:solidFill>
                            <a:srgbClr val="F8FBFF"/>
                          </a:solidFill>
                        </a:rPr>
                        <a:t>Ridge Regression</a:t>
                      </a:r>
                    </a:p>
                  </a:txBody>
                  <a:tcPr marL="91440" marR="91440" marT="45720" marB="45720">
                    <a:solidFill>
                      <a:srgbClr val="081A30"/>
                    </a:solidFill>
                  </a:tcPr>
                </a:tc>
                <a:tc>
                  <a:txBody>
                    <a:bodyPr/>
                    <a:lstStyle/>
                    <a:p>
                      <a:r>
                        <a:rPr sz="825">
                          <a:solidFill>
                            <a:srgbClr val="F8FBFF"/>
                          </a:solidFill>
                        </a:rPr>
                        <a:t>$25,705</a:t>
                      </a:r>
                    </a:p>
                  </a:txBody>
                  <a:tcPr marL="91440" marR="91440" marT="45720" marB="45720">
                    <a:solidFill>
                      <a:srgbClr val="081A30"/>
                    </a:solidFill>
                  </a:tcPr>
                </a:tc>
                <a:tc>
                  <a:txBody>
                    <a:bodyPr/>
                    <a:lstStyle/>
                    <a:p>
                      <a:r>
                        <a:rPr sz="825">
                          <a:solidFill>
                            <a:srgbClr val="F8FBFF"/>
                          </a:solidFill>
                        </a:rPr>
                        <a:t>$171,038</a:t>
                      </a:r>
                    </a:p>
                  </a:txBody>
                  <a:tcPr marL="91440" marR="91440" marT="45720" marB="45720">
                    <a:solidFill>
                      <a:srgbClr val="081A30"/>
                    </a:solidFill>
                  </a:tcPr>
                </a:tc>
                <a:tc>
                  <a:txBody>
                    <a:bodyPr/>
                    <a:lstStyle/>
                    <a:p>
                      <a:r>
                        <a:rPr sz="825">
                          <a:solidFill>
                            <a:srgbClr val="F8FBFF"/>
                          </a:solidFill>
                        </a:rPr>
                        <a:t>-2.9314</a:t>
                      </a:r>
                    </a:p>
                  </a:txBody>
                  <a:tcPr marL="91440" marR="91440" marT="45720" marB="45720">
                    <a:solidFill>
                      <a:srgbClr val="081A30"/>
                    </a:solidFill>
                  </a:tcPr>
                </a:tc>
              </a:tr>
            </a:tbl>
          </a:graphicData>
        </a:graphic>
      </p:graphicFrame>
      <p:pic>
        <p:nvPicPr>
          <p:cNvPr id="4" name="">
            <a:extLst xmlns:a="http://schemas.openxmlformats.org/drawingml/2006/main">
              <a:ext uri="{FF2B5EF4-FFF2-40B4-BE49-F238E27FC236}">
                <a16:creationId xmlns:a16="http://schemas.microsoft.com/office/drawing/2014/main" id="{FB247162-FD4B-4045-A34D-BE74CB22042C}"/>
              </a:ext>
            </a:extLst>
          </p:cNvPr>
          <p:cNvPicPr>
            <a:picLocks xmlns:a="http://schemas.openxmlformats.org/drawingml/2006/main" noChangeAspect="1"/>
          </p:cNvPicPr>
          <p:nvPr/>
        </p:nvPicPr>
        <p:blipFill>
          <a:blip xmlns:r="http://schemas.openxmlformats.org/officeDocument/2006/relationships" xmlns:a="http://schemas.openxmlformats.org/drawingml/2006/main" r:embed="R75edb3825e6340c7"/>
          <a:stretch xmlns:a="http://schemas.openxmlformats.org/drawingml/2006/main"/>
        </p:blipFill>
        <p:spPr>
          <a:xfrm xmlns:a="http://schemas.openxmlformats.org/drawingml/2006/main">
            <a:off x="6667500" y="1547014"/>
            <a:ext cx="4762500" cy="2582872"/>
          </a:xfrm>
          <a:prstGeom xmlns:a="http://schemas.openxmlformats.org/drawingml/2006/main" prst="roundRect">
            <a:avLst>
              <a:gd name="adj" fmla="val 2381"/>
            </a:avLst>
          </a:prstGeom>
        </p:spPr>
      </p:pic>
      <p:sp>
        <p:nvSpPr>
          <p:cNvPr id="5" name="">
            <a:extLst xmlns:a="http://schemas.openxmlformats.org/drawingml/2006/main">
              <a:ext uri="{FF2B5EF4-FFF2-40B4-BE49-F238E27FC236}">
                <a16:creationId xmlns:a16="http://schemas.microsoft.com/office/drawing/2014/main" id="{C5C63BC6-1502-4FBB-A814-B6F7273E9195}"/>
              </a:ext>
            </a:extLst>
          </p:cNvPr>
          <p:cNvSpPr>
            <a:spLocks xmlns:a="http://schemas.openxmlformats.org/drawingml/2006/main" noGrp="1"/>
          </p:cNvSpPr>
          <p:nvPr/>
        </p:nvSpPr>
        <p:spPr>
          <a:xfrm xmlns:a="http://schemas.openxmlformats.org/drawingml/2006/main">
            <a:off x="800100" y="4914900"/>
            <a:ext cx="10325100" cy="704850"/>
          </a:xfrm>
          <a:prstGeom xmlns:a="http://schemas.openxmlformats.org/drawingml/2006/main" prst="roundRect">
            <a:avLst>
              <a:gd name="adj" fmla="val 10811"/>
            </a:avLst>
          </a:prstGeom>
          <a:solidFill xmlns:a="http://schemas.openxmlformats.org/drawingml/2006/main">
            <a:srgbClr val="081A30"/>
          </a:solidFill>
          <a:ln xmlns:a="http://schemas.openxmlformats.org/drawingml/2006/main" w="11430">
            <a:solidFill>
              <a:srgbClr val="1D466A"/>
            </a:solidFill>
            <a:prstDash val="solid"/>
          </a:ln>
        </p:spPr>
      </p:sp>
      <p:sp>
        <p:nvSpPr>
          <p:cNvPr id="6" name="">
            <a:extLst xmlns:a="http://schemas.openxmlformats.org/drawingml/2006/main">
              <a:ext uri="{FF2B5EF4-FFF2-40B4-BE49-F238E27FC236}">
                <a16:creationId xmlns:a16="http://schemas.microsoft.com/office/drawing/2014/main" id="{3AA8BC6F-7CEE-476D-A5CB-CB7C197875E4}"/>
              </a:ext>
            </a:extLst>
          </p:cNvPr>
          <p:cNvSpPr>
            <a:spLocks xmlns:a="http://schemas.openxmlformats.org/drawingml/2006/main" noGrp="1"/>
          </p:cNvSpPr>
          <p:nvPr/>
        </p:nvSpPr>
        <p:spPr>
          <a:xfrm xmlns:a="http://schemas.openxmlformats.org/drawingml/2006/main">
            <a:off x="1066800" y="50958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i="0">
                <a:solidFill>
                  <a:srgbClr val="18C6E8"/>
                </a:solidFill>
              </a:defRPr>
            </a:defPPr>
          </a:lstStyle>
          <a:p xmlns:a="http://schemas.openxmlformats.org/drawingml/2006/main">
            <a:pPr algn="l">
              <a:defRPr sz="1275" b="1" i="0">
                <a:solidFill>
                  <a:srgbClr val="18C6E8"/>
                </a:solidFill>
              </a:defRPr>
            </a:pPr>
            <a:r>
              <a:rPr sz="1275" b="1" i="0">
                <a:solidFill>
                  <a:srgbClr val="18C6E8"/>
                </a:solidFill>
              </a:rPr>
              <a:t>Selection criterion</a:t>
            </a:r>
          </a:p>
        </p:txBody>
      </p:sp>
      <p:sp>
        <p:nvSpPr>
          <p:cNvPr id="7" name="">
            <a:extLst xmlns:a="http://schemas.openxmlformats.org/drawingml/2006/main">
              <a:ext uri="{FF2B5EF4-FFF2-40B4-BE49-F238E27FC236}">
                <a16:creationId xmlns:a16="http://schemas.microsoft.com/office/drawing/2014/main" id="{69435FE2-73A4-447D-AA9F-558D535EF813}"/>
              </a:ext>
            </a:extLst>
          </p:cNvPr>
          <p:cNvSpPr>
            <a:spLocks xmlns:a="http://schemas.openxmlformats.org/drawingml/2006/main" noGrp="1"/>
          </p:cNvSpPr>
          <p:nvPr/>
        </p:nvSpPr>
        <p:spPr>
          <a:xfrm xmlns:a="http://schemas.openxmlformats.org/drawingml/2006/main">
            <a:off x="2838450" y="5095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i="0">
                <a:solidFill>
                  <a:srgbClr val="F8FBFF"/>
                </a:solidFill>
              </a:defRPr>
            </a:defPPr>
          </a:lstStyle>
          <a:p xmlns:a="http://schemas.openxmlformats.org/drawingml/2006/main">
            <a:pPr algn="l">
              <a:defRPr sz="1500" b="0" i="0">
                <a:solidFill>
                  <a:srgbClr val="F8FBFF"/>
                </a:solidFill>
              </a:defRPr>
            </a:pPr>
            <a:r>
              <a:rPr sz="1500" b="0" i="0">
                <a:solidFill>
                  <a:srgbClr val="F8FBFF"/>
                </a:solidFill>
              </a:rPr>
              <a:t>Extra Trees had the lowest RMSE. MAE and R2 support the same conclusion among the strongest models.</a:t>
            </a:r>
          </a:p>
        </p:txBody>
      </p:sp>
    </p:spTree>
    <p:extLst>
      <p:ext uri="{BB962C8B-B14F-4D97-AF65-F5344CB8AC3E}">
        <p14:creationId xmlns:p14="http://schemas.microsoft.com/office/powerpoint/2010/main" val="887305453"/>
      </p:ext>
    </p:extLst>
  </p:cSld>
</p:sld>
</file>

<file path=ppt/slides/slide7.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EF626D5-EC44-4A5D-969B-63F027B4D4AF}"/>
              </a:ext>
            </a:extLst>
          </p:cNvPr>
          <p:cNvSpPr>
            <a:spLocks xmlns:a="http://schemas.openxmlformats.org/drawingml/2006/main" noGrp="1"/>
          </p:cNvSpPr>
          <p:nvPr/>
        </p:nvSpPr>
        <p:spPr>
          <a:xfrm xmlns:a="http://schemas.openxmlformats.org/drawingml/2006/main">
            <a:off x="571500" y="381000"/>
            <a:ext cx="838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i="0">
                <a:solidFill>
                  <a:srgbClr val="F8FBFF"/>
                </a:solidFill>
              </a:defRPr>
            </a:defPPr>
          </a:lstStyle>
          <a:p xmlns:a="http://schemas.openxmlformats.org/drawingml/2006/main">
            <a:pPr algn="l">
              <a:defRPr sz="2400" b="1" i="0">
                <a:solidFill>
                  <a:srgbClr val="F8FBFF"/>
                </a:solidFill>
              </a:defRPr>
            </a:pPr>
            <a:r>
              <a:rPr sz="2400" b="1" i="0">
                <a:solidFill>
                  <a:srgbClr val="F8FBFF"/>
                </a:solidFill>
              </a:rPr>
              <a:t>Best Model: Extra Trees Regressor</a:t>
            </a:r>
          </a:p>
        </p:txBody>
      </p:sp>
      <p:sp>
        <p:nvSpPr>
          <p:cNvPr id="2" name="">
            <a:extLst xmlns:a="http://schemas.openxmlformats.org/drawingml/2006/main">
              <a:ext uri="{FF2B5EF4-FFF2-40B4-BE49-F238E27FC236}">
                <a16:creationId xmlns:a16="http://schemas.microsoft.com/office/drawing/2014/main" id="{A338DD58-E7C1-4EAD-8A09-77C319384655}"/>
              </a:ext>
            </a:extLst>
          </p:cNvPr>
          <p:cNvSpPr>
            <a:spLocks xmlns:a="http://schemas.openxmlformats.org/drawingml/2006/main" noGrp="1"/>
          </p:cNvSpPr>
          <p:nvPr/>
        </p:nvSpPr>
        <p:spPr>
          <a:xfrm xmlns:a="http://schemas.openxmlformats.org/drawingml/2006/main">
            <a:off x="571500" y="952500"/>
            <a:ext cx="17145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sp>
        <p:nvSpPr>
          <p:cNvPr id="3" name="">
            <a:extLst xmlns:a="http://schemas.openxmlformats.org/drawingml/2006/main">
              <a:ext uri="{FF2B5EF4-FFF2-40B4-BE49-F238E27FC236}">
                <a16:creationId xmlns:a16="http://schemas.microsoft.com/office/drawing/2014/main" id="{D636CD94-9509-4A60-9A0E-F2CD126107BA}"/>
              </a:ext>
            </a:extLst>
          </p:cNvPr>
          <p:cNvSpPr>
            <a:spLocks xmlns:a="http://schemas.openxmlformats.org/drawingml/2006/main" noGrp="1"/>
          </p:cNvSpPr>
          <p:nvPr/>
        </p:nvSpPr>
        <p:spPr>
          <a:xfrm xmlns:a="http://schemas.openxmlformats.org/drawingml/2006/main">
            <a:off x="666750" y="1276350"/>
            <a:ext cx="2000250" cy="971550"/>
          </a:xfrm>
          <a:prstGeom xmlns:a="http://schemas.openxmlformats.org/drawingml/2006/main" prst="roundRect">
            <a:avLst>
              <a:gd name="adj" fmla="val 7843"/>
            </a:avLst>
          </a:prstGeom>
          <a:solidFill xmlns:a="http://schemas.openxmlformats.org/drawingml/2006/main">
            <a:srgbClr val="081A30"/>
          </a:solidFill>
          <a:ln xmlns:a="http://schemas.openxmlformats.org/drawingml/2006/main" w="11430">
            <a:solidFill>
              <a:srgbClr val="1F4E79"/>
            </a:solidFill>
            <a:prstDash val="solid"/>
          </a:ln>
        </p:spPr>
      </p:sp>
      <p:sp>
        <p:nvSpPr>
          <p:cNvPr id="4" name="">
            <a:extLst xmlns:a="http://schemas.openxmlformats.org/drawingml/2006/main">
              <a:ext uri="{FF2B5EF4-FFF2-40B4-BE49-F238E27FC236}">
                <a16:creationId xmlns:a16="http://schemas.microsoft.com/office/drawing/2014/main" id="{356C3C2B-048B-446D-85BA-D983DE72779B}"/>
              </a:ext>
            </a:extLst>
          </p:cNvPr>
          <p:cNvSpPr>
            <a:spLocks xmlns:a="http://schemas.openxmlformats.org/drawingml/2006/main" noGrp="1"/>
          </p:cNvSpPr>
          <p:nvPr/>
        </p:nvSpPr>
        <p:spPr>
          <a:xfrm xmlns:a="http://schemas.openxmlformats.org/drawingml/2006/main">
            <a:off x="838200" y="143827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i="0">
                <a:solidFill>
                  <a:srgbClr val="18C6E8"/>
                </a:solidFill>
              </a:defRPr>
            </a:defPPr>
          </a:lstStyle>
          <a:p xmlns:a="http://schemas.openxmlformats.org/drawingml/2006/main">
            <a:pPr algn="l">
              <a:defRPr sz="2025" b="1" i="0">
                <a:solidFill>
                  <a:srgbClr val="18C6E8"/>
                </a:solidFill>
              </a:defRPr>
            </a:pPr>
            <a:r>
              <a:rPr sz="2025" b="1" i="0">
                <a:solidFill>
                  <a:srgbClr val="18C6E8"/>
                </a:solidFill>
              </a:rPr>
              <a:t>$20,128.11</a:t>
            </a:r>
          </a:p>
        </p:txBody>
      </p:sp>
      <p:sp>
        <p:nvSpPr>
          <p:cNvPr id="5" name="">
            <a:extLst xmlns:a="http://schemas.openxmlformats.org/drawingml/2006/main">
              <a:ext uri="{FF2B5EF4-FFF2-40B4-BE49-F238E27FC236}">
                <a16:creationId xmlns:a16="http://schemas.microsoft.com/office/drawing/2014/main" id="{B40F314C-07C9-4606-A3F3-F989E01409F4}"/>
              </a:ext>
            </a:extLst>
          </p:cNvPr>
          <p:cNvSpPr>
            <a:spLocks xmlns:a="http://schemas.openxmlformats.org/drawingml/2006/main" noGrp="1"/>
          </p:cNvSpPr>
          <p:nvPr/>
        </p:nvSpPr>
        <p:spPr>
          <a:xfrm xmlns:a="http://schemas.openxmlformats.org/drawingml/2006/main">
            <a:off x="838200" y="18478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9FB3C8"/>
                </a:solidFill>
              </a:defRPr>
            </a:defPPr>
          </a:lstStyle>
          <a:p xmlns:a="http://schemas.openxmlformats.org/drawingml/2006/main">
            <a:pPr algn="l">
              <a:defRPr sz="1050" b="0" i="0">
                <a:solidFill>
                  <a:srgbClr val="9FB3C8"/>
                </a:solidFill>
              </a:defRPr>
            </a:pPr>
            <a:r>
              <a:rPr sz="1050" b="0" i="0">
                <a:solidFill>
                  <a:srgbClr val="9FB3C8"/>
                </a:solidFill>
              </a:rPr>
              <a:t>MAE</a:t>
            </a:r>
          </a:p>
        </p:txBody>
      </p:sp>
      <p:sp>
        <p:nvSpPr>
          <p:cNvPr id="6" name="">
            <a:extLst xmlns:a="http://schemas.openxmlformats.org/drawingml/2006/main">
              <a:ext uri="{FF2B5EF4-FFF2-40B4-BE49-F238E27FC236}">
                <a16:creationId xmlns:a16="http://schemas.microsoft.com/office/drawing/2014/main" id="{C8051B43-CD5C-4202-87E0-EA98220720D9}"/>
              </a:ext>
            </a:extLst>
          </p:cNvPr>
          <p:cNvSpPr>
            <a:spLocks xmlns:a="http://schemas.openxmlformats.org/drawingml/2006/main" noGrp="1"/>
          </p:cNvSpPr>
          <p:nvPr/>
        </p:nvSpPr>
        <p:spPr>
          <a:xfrm xmlns:a="http://schemas.openxmlformats.org/drawingml/2006/main">
            <a:off x="666750" y="2476500"/>
            <a:ext cx="2000250" cy="971550"/>
          </a:xfrm>
          <a:prstGeom xmlns:a="http://schemas.openxmlformats.org/drawingml/2006/main" prst="roundRect">
            <a:avLst>
              <a:gd name="adj" fmla="val 7843"/>
            </a:avLst>
          </a:prstGeom>
          <a:solidFill xmlns:a="http://schemas.openxmlformats.org/drawingml/2006/main">
            <a:srgbClr val="081A30"/>
          </a:solidFill>
          <a:ln xmlns:a="http://schemas.openxmlformats.org/drawingml/2006/main" w="11430">
            <a:solidFill>
              <a:srgbClr val="1F4E79"/>
            </a:solidFill>
            <a:prstDash val="solid"/>
          </a:ln>
        </p:spPr>
      </p:sp>
      <p:sp>
        <p:nvSpPr>
          <p:cNvPr id="7" name="">
            <a:extLst xmlns:a="http://schemas.openxmlformats.org/drawingml/2006/main">
              <a:ext uri="{FF2B5EF4-FFF2-40B4-BE49-F238E27FC236}">
                <a16:creationId xmlns:a16="http://schemas.microsoft.com/office/drawing/2014/main" id="{4A5C8202-60C3-4929-9A15-5E2251B18192}"/>
              </a:ext>
            </a:extLst>
          </p:cNvPr>
          <p:cNvSpPr>
            <a:spLocks xmlns:a="http://schemas.openxmlformats.org/drawingml/2006/main" noGrp="1"/>
          </p:cNvSpPr>
          <p:nvPr/>
        </p:nvSpPr>
        <p:spPr>
          <a:xfrm xmlns:a="http://schemas.openxmlformats.org/drawingml/2006/main">
            <a:off x="838200" y="263842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i="0">
                <a:solidFill>
                  <a:srgbClr val="72E6AC"/>
                </a:solidFill>
              </a:defRPr>
            </a:defPPr>
          </a:lstStyle>
          <a:p xmlns:a="http://schemas.openxmlformats.org/drawingml/2006/main">
            <a:pPr algn="l">
              <a:defRPr sz="2025" b="1" i="0">
                <a:solidFill>
                  <a:srgbClr val="72E6AC"/>
                </a:solidFill>
              </a:defRPr>
            </a:pPr>
            <a:r>
              <a:rPr sz="2025" b="1" i="0">
                <a:solidFill>
                  <a:srgbClr val="72E6AC"/>
                </a:solidFill>
              </a:rPr>
              <a:t>$43,994.54</a:t>
            </a:r>
          </a:p>
        </p:txBody>
      </p:sp>
      <p:sp>
        <p:nvSpPr>
          <p:cNvPr id="8" name="">
            <a:extLst xmlns:a="http://schemas.openxmlformats.org/drawingml/2006/main">
              <a:ext uri="{FF2B5EF4-FFF2-40B4-BE49-F238E27FC236}">
                <a16:creationId xmlns:a16="http://schemas.microsoft.com/office/drawing/2014/main" id="{B7E2CCB4-0528-4457-B36A-CFF47F96DF59}"/>
              </a:ext>
            </a:extLst>
          </p:cNvPr>
          <p:cNvSpPr>
            <a:spLocks xmlns:a="http://schemas.openxmlformats.org/drawingml/2006/main" noGrp="1"/>
          </p:cNvSpPr>
          <p:nvPr/>
        </p:nvSpPr>
        <p:spPr>
          <a:xfrm xmlns:a="http://schemas.openxmlformats.org/drawingml/2006/main">
            <a:off x="838200" y="30480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9FB3C8"/>
                </a:solidFill>
              </a:defRPr>
            </a:defPPr>
          </a:lstStyle>
          <a:p xmlns:a="http://schemas.openxmlformats.org/drawingml/2006/main">
            <a:pPr algn="l">
              <a:defRPr sz="1050" b="0" i="0">
                <a:solidFill>
                  <a:srgbClr val="9FB3C8"/>
                </a:solidFill>
              </a:defRPr>
            </a:pPr>
            <a:r>
              <a:rPr sz="1050" b="0" i="0">
                <a:solidFill>
                  <a:srgbClr val="9FB3C8"/>
                </a:solidFill>
              </a:rPr>
              <a:t>RMSE</a:t>
            </a:r>
          </a:p>
        </p:txBody>
      </p:sp>
      <p:sp>
        <p:nvSpPr>
          <p:cNvPr id="9" name="">
            <a:extLst xmlns:a="http://schemas.openxmlformats.org/drawingml/2006/main">
              <a:ext uri="{FF2B5EF4-FFF2-40B4-BE49-F238E27FC236}">
                <a16:creationId xmlns:a16="http://schemas.microsoft.com/office/drawing/2014/main" id="{735FBF1F-37DB-4565-83CA-099E8F3758A5}"/>
              </a:ext>
            </a:extLst>
          </p:cNvPr>
          <p:cNvSpPr>
            <a:spLocks xmlns:a="http://schemas.openxmlformats.org/drawingml/2006/main" noGrp="1"/>
          </p:cNvSpPr>
          <p:nvPr/>
        </p:nvSpPr>
        <p:spPr>
          <a:xfrm xmlns:a="http://schemas.openxmlformats.org/drawingml/2006/main">
            <a:off x="666750" y="3676650"/>
            <a:ext cx="2000250" cy="971550"/>
          </a:xfrm>
          <a:prstGeom xmlns:a="http://schemas.openxmlformats.org/drawingml/2006/main" prst="roundRect">
            <a:avLst>
              <a:gd name="adj" fmla="val 7843"/>
            </a:avLst>
          </a:prstGeom>
          <a:solidFill xmlns:a="http://schemas.openxmlformats.org/drawingml/2006/main">
            <a:srgbClr val="081A30"/>
          </a:solidFill>
          <a:ln xmlns:a="http://schemas.openxmlformats.org/drawingml/2006/main" w="11430">
            <a:solidFill>
              <a:srgbClr val="1F4E79"/>
            </a:solidFill>
            <a:prstDash val="solid"/>
          </a:ln>
        </p:spPr>
      </p:sp>
      <p:sp>
        <p:nvSpPr>
          <p:cNvPr id="10" name="">
            <a:extLst xmlns:a="http://schemas.openxmlformats.org/drawingml/2006/main">
              <a:ext uri="{FF2B5EF4-FFF2-40B4-BE49-F238E27FC236}">
                <a16:creationId xmlns:a16="http://schemas.microsoft.com/office/drawing/2014/main" id="{2C18710A-F140-47E9-8737-428C7832B5E9}"/>
              </a:ext>
            </a:extLst>
          </p:cNvPr>
          <p:cNvSpPr>
            <a:spLocks xmlns:a="http://schemas.openxmlformats.org/drawingml/2006/main" noGrp="1"/>
          </p:cNvSpPr>
          <p:nvPr/>
        </p:nvSpPr>
        <p:spPr>
          <a:xfrm xmlns:a="http://schemas.openxmlformats.org/drawingml/2006/main">
            <a:off x="838200" y="3838575"/>
            <a:ext cx="1657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i="0">
                <a:solidFill>
                  <a:srgbClr val="3B82F6"/>
                </a:solidFill>
              </a:defRPr>
            </a:defPPr>
          </a:lstStyle>
          <a:p xmlns:a="http://schemas.openxmlformats.org/drawingml/2006/main">
            <a:pPr algn="l">
              <a:defRPr sz="2025" b="1" i="0">
                <a:solidFill>
                  <a:srgbClr val="3B82F6"/>
                </a:solidFill>
              </a:defRPr>
            </a:pPr>
            <a:r>
              <a:rPr sz="2025" b="1" i="0">
                <a:solidFill>
                  <a:srgbClr val="3B82F6"/>
                </a:solidFill>
              </a:rPr>
              <a:t>0.7399</a:t>
            </a:r>
          </a:p>
        </p:txBody>
      </p:sp>
      <p:sp>
        <p:nvSpPr>
          <p:cNvPr id="11" name="">
            <a:extLst xmlns:a="http://schemas.openxmlformats.org/drawingml/2006/main">
              <a:ext uri="{FF2B5EF4-FFF2-40B4-BE49-F238E27FC236}">
                <a16:creationId xmlns:a16="http://schemas.microsoft.com/office/drawing/2014/main" id="{B2E9A290-3C98-4467-AA72-AB0606728C41}"/>
              </a:ext>
            </a:extLst>
          </p:cNvPr>
          <p:cNvSpPr>
            <a:spLocks xmlns:a="http://schemas.openxmlformats.org/drawingml/2006/main" noGrp="1"/>
          </p:cNvSpPr>
          <p:nvPr/>
        </p:nvSpPr>
        <p:spPr>
          <a:xfrm xmlns:a="http://schemas.openxmlformats.org/drawingml/2006/main">
            <a:off x="838200" y="42481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i="0">
                <a:solidFill>
                  <a:srgbClr val="9FB3C8"/>
                </a:solidFill>
              </a:defRPr>
            </a:defPPr>
          </a:lstStyle>
          <a:p xmlns:a="http://schemas.openxmlformats.org/drawingml/2006/main">
            <a:pPr algn="l">
              <a:defRPr sz="1050" b="0" i="0">
                <a:solidFill>
                  <a:srgbClr val="9FB3C8"/>
                </a:solidFill>
              </a:defRPr>
            </a:pPr>
            <a:r>
              <a:rPr sz="1050" b="0" i="0">
                <a:solidFill>
                  <a:srgbClr val="9FB3C8"/>
                </a:solidFill>
              </a:rPr>
              <a:t>R2</a:t>
            </a:r>
          </a:p>
        </p:txBody>
      </p:sp>
      <p:sp>
        <p:nvSpPr>
          <p:cNvPr id="12" name="">
            <a:extLst xmlns:a="http://schemas.openxmlformats.org/drawingml/2006/main">
              <a:ext uri="{FF2B5EF4-FFF2-40B4-BE49-F238E27FC236}">
                <a16:creationId xmlns:a16="http://schemas.microsoft.com/office/drawing/2014/main" id="{80549A54-C20F-4E9D-BDB2-A78D561B6D97}"/>
              </a:ext>
            </a:extLst>
          </p:cNvPr>
          <p:cNvSpPr>
            <a:spLocks xmlns:a="http://schemas.openxmlformats.org/drawingml/2006/main" noGrp="1"/>
          </p:cNvSpPr>
          <p:nvPr/>
        </p:nvSpPr>
        <p:spPr>
          <a:xfrm xmlns:a="http://schemas.openxmlformats.org/drawingml/2006/main">
            <a:off x="3048000" y="1238250"/>
            <a:ext cx="781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F8FBFF"/>
                </a:solidFill>
              </a:defRPr>
            </a:defPPr>
          </a:lstStyle>
          <a:p xmlns:a="http://schemas.openxmlformats.org/drawingml/2006/main">
            <a:pPr algn="l">
              <a:defRPr sz="1575" b="0" i="0">
                <a:solidFill>
                  <a:srgbClr val="F8FBFF"/>
                </a:solidFill>
              </a:defRPr>
            </a:pPr>
            <a:r>
              <a:rPr sz="1575" b="0" i="0">
                <a:solidFill>
                  <a:srgbClr val="F8FBFF"/>
                </a:solidFill>
              </a:rPr>
              <a:t>Extra Trees averages many randomized decision trees. This helps capture nonlinear feature effects while reducing variance compared with a single tree.</a:t>
            </a:r>
          </a:p>
        </p:txBody>
      </p:sp>
      <p:pic>
        <p:nvPicPr>
          <p:cNvPr id="13" name="">
            <a:extLst xmlns:a="http://schemas.openxmlformats.org/drawingml/2006/main">
              <a:ext uri="{FF2B5EF4-FFF2-40B4-BE49-F238E27FC236}">
                <a16:creationId xmlns:a16="http://schemas.microsoft.com/office/drawing/2014/main" id="{82C5E8B9-9491-431E-A759-D28CC7FB60BC}"/>
              </a:ext>
            </a:extLst>
          </p:cNvPr>
          <p:cNvPicPr>
            <a:picLocks xmlns:a="http://schemas.openxmlformats.org/drawingml/2006/main" noChangeAspect="1"/>
          </p:cNvPicPr>
          <p:nvPr/>
        </p:nvPicPr>
        <p:blipFill>
          <a:blip xmlns:r="http://schemas.openxmlformats.org/officeDocument/2006/relationships" xmlns:a="http://schemas.openxmlformats.org/drawingml/2006/main" r:embed="Ra8979ca339ff4d01"/>
          <a:stretch xmlns:a="http://schemas.openxmlformats.org/drawingml/2006/main"/>
        </p:blipFill>
        <p:spPr>
          <a:xfrm xmlns:a="http://schemas.openxmlformats.org/drawingml/2006/main">
            <a:off x="3048000" y="2245323"/>
            <a:ext cx="3905250" cy="2557853"/>
          </a:xfrm>
          <a:prstGeom xmlns:a="http://schemas.openxmlformats.org/drawingml/2006/main" prst="roundRect">
            <a:avLst>
              <a:gd name="adj" fmla="val 2667"/>
            </a:avLst>
          </a:prstGeom>
        </p:spPr>
      </p:pic>
      <p:pic>
        <p:nvPicPr>
          <p:cNvPr id="14" name="">
            <a:extLst xmlns:a="http://schemas.openxmlformats.org/drawingml/2006/main">
              <a:ext uri="{FF2B5EF4-FFF2-40B4-BE49-F238E27FC236}">
                <a16:creationId xmlns:a16="http://schemas.microsoft.com/office/drawing/2014/main" id="{3DE98DE2-2F7E-4B3F-A57A-4E55A7B4DB29}"/>
              </a:ext>
            </a:extLst>
          </p:cNvPr>
          <p:cNvPicPr>
            <a:picLocks xmlns:a="http://schemas.openxmlformats.org/drawingml/2006/main" noChangeAspect="1"/>
          </p:cNvPicPr>
          <p:nvPr/>
        </p:nvPicPr>
        <p:blipFill>
          <a:blip xmlns:r="http://schemas.openxmlformats.org/officeDocument/2006/relationships" xmlns:a="http://schemas.openxmlformats.org/drawingml/2006/main" r:embed="R0cf05d5e8cde4716"/>
          <a:stretch xmlns:a="http://schemas.openxmlformats.org/drawingml/2006/main"/>
        </p:blipFill>
        <p:spPr>
          <a:xfrm xmlns:a="http://schemas.openxmlformats.org/drawingml/2006/main">
            <a:off x="7258050" y="2245323"/>
            <a:ext cx="3905250" cy="2557853"/>
          </a:xfrm>
          <a:prstGeom xmlns:a="http://schemas.openxmlformats.org/drawingml/2006/main" prst="roundRect">
            <a:avLst>
              <a:gd name="adj" fmla="val 2667"/>
            </a:avLst>
          </a:prstGeom>
        </p:spPr>
      </p:pic>
      <p:sp>
        <p:nvSpPr>
          <p:cNvPr id="15" name="">
            <a:extLst xmlns:a="http://schemas.openxmlformats.org/drawingml/2006/main">
              <a:ext uri="{FF2B5EF4-FFF2-40B4-BE49-F238E27FC236}">
                <a16:creationId xmlns:a16="http://schemas.microsoft.com/office/drawing/2014/main" id="{A3F5E3A1-E884-4C28-A18F-DF86C59BE5F1}"/>
              </a:ext>
            </a:extLst>
          </p:cNvPr>
          <p:cNvSpPr>
            <a:spLocks xmlns:a="http://schemas.openxmlformats.org/drawingml/2006/main" noGrp="1"/>
          </p:cNvSpPr>
          <p:nvPr/>
        </p:nvSpPr>
        <p:spPr>
          <a:xfrm xmlns:a="http://schemas.openxmlformats.org/drawingml/2006/main">
            <a:off x="3048000" y="52578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9FB3C8"/>
                </a:solidFill>
              </a:defRPr>
            </a:defPPr>
          </a:lstStyle>
          <a:p xmlns:a="http://schemas.openxmlformats.org/drawingml/2006/main">
            <a:pPr algn="l">
              <a:defRPr sz="1425" b="0" i="0">
                <a:solidFill>
                  <a:srgbClr val="9FB3C8"/>
                </a:solidFill>
              </a:defRPr>
            </a:pPr>
            <a:r>
              <a:rPr sz="1425" b="0" i="0">
                <a:solidFill>
                  <a:srgbClr val="9FB3C8"/>
                </a:solidFill>
              </a:rPr>
              <a:t>Strength: strong tabular performance. Limitation: less interpretable than a linear model and weaker on rare extreme cases.</a:t>
            </a:r>
          </a:p>
        </p:txBody>
      </p:sp>
    </p:spTree>
    <p:extLst>
      <p:ext uri="{BB962C8B-B14F-4D97-AF65-F5344CB8AC3E}">
        <p14:creationId xmlns:p14="http://schemas.microsoft.com/office/powerpoint/2010/main" val="890690826"/>
      </p:ext>
    </p:extLst>
  </p:cSld>
</p:sld>
</file>

<file path=ppt/slides/slide8.xml><?xml version="1.0" encoding="utf-8"?>
<p:sld xmlns:p="http://schemas.openxmlformats.org/presentationml/2006/main">
  <p:cSld>
    <p:bg>
      <p:bgPr>
        <a:solidFill xmlns:a="http://schemas.openxmlformats.org/drawingml/2006/main">
          <a:srgbClr val="07142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7BB482-1BB6-4482-BC8E-B58BA0E7087E}"/>
              </a:ext>
            </a:extLst>
          </p:cNvPr>
          <p:cNvSpPr>
            <a:spLocks xmlns:a="http://schemas.openxmlformats.org/drawingml/2006/main" noGrp="1"/>
          </p:cNvSpPr>
          <p:nvPr/>
        </p:nvSpPr>
        <p:spPr>
          <a:xfrm xmlns:a="http://schemas.openxmlformats.org/drawingml/2006/main">
            <a:off x="571500" y="381000"/>
            <a:ext cx="838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1" i="0">
                <a:solidFill>
                  <a:srgbClr val="F8FBFF"/>
                </a:solidFill>
              </a:defRPr>
            </a:defPPr>
          </a:lstStyle>
          <a:p xmlns:a="http://schemas.openxmlformats.org/drawingml/2006/main">
            <a:pPr algn="l">
              <a:defRPr sz="2400" b="1" i="0">
                <a:solidFill>
                  <a:srgbClr val="F8FBFF"/>
                </a:solidFill>
              </a:defRPr>
            </a:pPr>
            <a:r>
              <a:rPr sz="2400" b="1" i="0">
                <a:solidFill>
                  <a:srgbClr val="F8FBFF"/>
                </a:solidFill>
              </a:rPr>
              <a:t>Conclusions</a:t>
            </a:r>
          </a:p>
        </p:txBody>
      </p:sp>
      <p:sp>
        <p:nvSpPr>
          <p:cNvPr id="2" name="">
            <a:extLst xmlns:a="http://schemas.openxmlformats.org/drawingml/2006/main">
              <a:ext uri="{FF2B5EF4-FFF2-40B4-BE49-F238E27FC236}">
                <a16:creationId xmlns:a16="http://schemas.microsoft.com/office/drawing/2014/main" id="{6A0953CA-DBB0-4452-86B7-975A8A34644C}"/>
              </a:ext>
            </a:extLst>
          </p:cNvPr>
          <p:cNvSpPr>
            <a:spLocks xmlns:a="http://schemas.openxmlformats.org/drawingml/2006/main" noGrp="1"/>
          </p:cNvSpPr>
          <p:nvPr/>
        </p:nvSpPr>
        <p:spPr>
          <a:xfrm xmlns:a="http://schemas.openxmlformats.org/drawingml/2006/main">
            <a:off x="571500" y="952500"/>
            <a:ext cx="17145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sp>
        <p:nvSpPr>
          <p:cNvPr id="3" name="">
            <a:extLst xmlns:a="http://schemas.openxmlformats.org/drawingml/2006/main">
              <a:ext uri="{FF2B5EF4-FFF2-40B4-BE49-F238E27FC236}">
                <a16:creationId xmlns:a16="http://schemas.microsoft.com/office/drawing/2014/main" id="{46483AE9-8E15-45F8-9393-D1D9FB5E7520}"/>
              </a:ext>
            </a:extLst>
          </p:cNvPr>
          <p:cNvSpPr>
            <a:spLocks xmlns:a="http://schemas.openxmlformats.org/drawingml/2006/main" noGrp="1"/>
          </p:cNvSpPr>
          <p:nvPr/>
        </p:nvSpPr>
        <p:spPr>
          <a:xfrm xmlns:a="http://schemas.openxmlformats.org/drawingml/2006/main">
            <a:off x="723900" y="12382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18C6E8"/>
                </a:solidFill>
              </a:defRPr>
            </a:defPPr>
          </a:lstStyle>
          <a:p xmlns:a="http://schemas.openxmlformats.org/drawingml/2006/main">
            <a:pPr algn="l">
              <a:defRPr sz="1575" b="1" i="0">
                <a:solidFill>
                  <a:srgbClr val="18C6E8"/>
                </a:solidFill>
              </a:defRPr>
            </a:pPr>
            <a:r>
              <a:rPr sz="1575" b="1" i="0">
                <a:solidFill>
                  <a:srgbClr val="18C6E8"/>
                </a:solidFill>
              </a:rPr>
              <a:t>Main findings</a:t>
            </a:r>
          </a:p>
        </p:txBody>
      </p:sp>
      <p:sp>
        <p:nvSpPr>
          <p:cNvPr id="4" name="">
            <a:extLst xmlns:a="http://schemas.openxmlformats.org/drawingml/2006/main">
              <a:ext uri="{FF2B5EF4-FFF2-40B4-BE49-F238E27FC236}">
                <a16:creationId xmlns:a16="http://schemas.microsoft.com/office/drawing/2014/main" id="{DA201842-C1A8-4F9F-92DC-8374A3BC6E60}"/>
              </a:ext>
            </a:extLst>
          </p:cNvPr>
          <p:cNvSpPr>
            <a:spLocks xmlns:a="http://schemas.openxmlformats.org/drawingml/2006/main" noGrp="1"/>
          </p:cNvSpPr>
          <p:nvPr/>
        </p:nvSpPr>
        <p:spPr>
          <a:xfrm xmlns:a="http://schemas.openxmlformats.org/drawingml/2006/main">
            <a:off x="723900" y="1657350"/>
            <a:ext cx="5143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F8FBFF"/>
                </a:solidFill>
              </a:defRPr>
            </a:defPPr>
          </a:lstStyle>
          <a:p xmlns:a="http://schemas.openxmlformats.org/drawingml/2006/main">
            <a:pPr algn="l">
              <a:defRPr sz="1575" b="0" i="0">
                <a:solidFill>
                  <a:srgbClr val="F8FBFF"/>
                </a:solidFill>
              </a:defRPr>
            </a:pPr>
            <a:r>
              <a:rPr sz="1575" b="0" i="0">
                <a:solidFill>
                  <a:srgbClr val="F8FBFF"/>
                </a:solidFill>
              </a:rPr>
              <a:t>• Sale price increases strongly with overall quality and living area</a:t>
            </a:r>
          </a:p>
          <a:p xmlns:a="http://schemas.openxmlformats.org/drawingml/2006/main">
            <a:pPr algn="l">
              <a:defRPr sz="1575" b="0" i="0">
                <a:solidFill>
                  <a:srgbClr val="F8FBFF"/>
                </a:solidFill>
              </a:defRPr>
            </a:pPr>
            <a:r>
              <a:rPr sz="1575" b="0" i="0">
                <a:solidFill>
                  <a:srgbClr val="F8FBFF"/>
                </a:solidFill>
              </a:rPr>
              <a:t>• Extra Trees achieved the best validation RMSE: $43,995</a:t>
            </a:r>
          </a:p>
          <a:p xmlns:a="http://schemas.openxmlformats.org/drawingml/2006/main">
            <a:pPr algn="l">
              <a:defRPr sz="1575" b="0" i="0">
                <a:solidFill>
                  <a:srgbClr val="F8FBFF"/>
                </a:solidFill>
              </a:defRPr>
            </a:pPr>
            <a:r>
              <a:rPr sz="1575" b="0" i="0">
                <a:solidFill>
                  <a:srgbClr val="F8FBFF"/>
                </a:solidFill>
              </a:rPr>
              <a:t>• The final prediction file preserves all 146 test rows and original IDs</a:t>
            </a:r>
          </a:p>
        </p:txBody>
      </p:sp>
      <p:sp>
        <p:nvSpPr>
          <p:cNvPr id="5" name="">
            <a:extLst xmlns:a="http://schemas.openxmlformats.org/drawingml/2006/main">
              <a:ext uri="{FF2B5EF4-FFF2-40B4-BE49-F238E27FC236}">
                <a16:creationId xmlns:a16="http://schemas.microsoft.com/office/drawing/2014/main" id="{4839CE95-1DB2-40DB-90C2-16E31E49CAA3}"/>
              </a:ext>
            </a:extLst>
          </p:cNvPr>
          <p:cNvSpPr>
            <a:spLocks xmlns:a="http://schemas.openxmlformats.org/drawingml/2006/main" noGrp="1"/>
          </p:cNvSpPr>
          <p:nvPr/>
        </p:nvSpPr>
        <p:spPr>
          <a:xfrm xmlns:a="http://schemas.openxmlformats.org/drawingml/2006/main">
            <a:off x="723900" y="3390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18C6E8"/>
                </a:solidFill>
              </a:defRPr>
            </a:defPPr>
          </a:lstStyle>
          <a:p xmlns:a="http://schemas.openxmlformats.org/drawingml/2006/main">
            <a:pPr algn="l">
              <a:defRPr sz="1575" b="1" i="0">
                <a:solidFill>
                  <a:srgbClr val="18C6E8"/>
                </a:solidFill>
              </a:defRPr>
            </a:pPr>
            <a:r>
              <a:rPr sz="1575" b="1" i="0">
                <a:solidFill>
                  <a:srgbClr val="18C6E8"/>
                </a:solidFill>
              </a:rPr>
              <a:t>Limitations and improvements</a:t>
            </a:r>
          </a:p>
        </p:txBody>
      </p:sp>
      <p:sp>
        <p:nvSpPr>
          <p:cNvPr id="6" name="">
            <a:extLst xmlns:a="http://schemas.openxmlformats.org/drawingml/2006/main">
              <a:ext uri="{FF2B5EF4-FFF2-40B4-BE49-F238E27FC236}">
                <a16:creationId xmlns:a16="http://schemas.microsoft.com/office/drawing/2014/main" id="{FFAB2DC3-E662-4120-8E36-6648272C9F1A}"/>
              </a:ext>
            </a:extLst>
          </p:cNvPr>
          <p:cNvSpPr>
            <a:spLocks xmlns:a="http://schemas.openxmlformats.org/drawingml/2006/main" noGrp="1"/>
          </p:cNvSpPr>
          <p:nvPr/>
        </p:nvSpPr>
        <p:spPr>
          <a:xfrm xmlns:a="http://schemas.openxmlformats.org/drawingml/2006/main">
            <a:off x="723900" y="3810000"/>
            <a:ext cx="5143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0" i="0">
                <a:solidFill>
                  <a:srgbClr val="F8FBFF"/>
                </a:solidFill>
              </a:defRPr>
            </a:defPPr>
          </a:lstStyle>
          <a:p xmlns:a="http://schemas.openxmlformats.org/drawingml/2006/main">
            <a:pPr algn="l">
              <a:defRPr sz="1575" b="0" i="0">
                <a:solidFill>
                  <a:srgbClr val="F8FBFF"/>
                </a:solidFill>
              </a:defRPr>
            </a:pPr>
            <a:r>
              <a:rPr sz="1575" b="0" i="0">
                <a:solidFill>
                  <a:srgbClr val="F8FBFF"/>
                </a:solidFill>
              </a:rPr>
              <a:t>• Rare expensive houses remain difficult to predict</a:t>
            </a:r>
          </a:p>
          <a:p xmlns:a="http://schemas.openxmlformats.org/drawingml/2006/main">
            <a:pPr algn="l">
              <a:defRPr sz="1575" b="0" i="0">
                <a:solidFill>
                  <a:srgbClr val="F8FBFF"/>
                </a:solidFill>
              </a:defRPr>
            </a:pPr>
            <a:r>
              <a:rPr sz="1575" b="0" i="0">
                <a:solidFill>
                  <a:srgbClr val="F8FBFF"/>
                </a:solidFill>
              </a:rPr>
              <a:t>• More cross-validation could give a stronger performance estimate</a:t>
            </a:r>
          </a:p>
          <a:p xmlns:a="http://schemas.openxmlformats.org/drawingml/2006/main">
            <a:pPr algn="l">
              <a:defRPr sz="1575" b="0" i="0">
                <a:solidFill>
                  <a:srgbClr val="F8FBFF"/>
                </a:solidFill>
              </a:defRPr>
            </a:pPr>
            <a:r>
              <a:rPr sz="1575" b="0" i="0">
                <a:solidFill>
                  <a:srgbClr val="F8FBFF"/>
                </a:solidFill>
              </a:rPr>
              <a:t>• Feature engineering could add house age and total finished area</a:t>
            </a:r>
          </a:p>
        </p:txBody>
      </p:sp>
      <p:sp>
        <p:nvSpPr>
          <p:cNvPr id="7" name="">
            <a:extLst xmlns:a="http://schemas.openxmlformats.org/drawingml/2006/main">
              <a:ext uri="{FF2B5EF4-FFF2-40B4-BE49-F238E27FC236}">
                <a16:creationId xmlns:a16="http://schemas.microsoft.com/office/drawing/2014/main" id="{FFEFCBBC-824B-4497-A6AA-D5075D77DB68}"/>
              </a:ext>
            </a:extLst>
          </p:cNvPr>
          <p:cNvSpPr>
            <a:spLocks xmlns:a="http://schemas.openxmlformats.org/drawingml/2006/main" noGrp="1"/>
          </p:cNvSpPr>
          <p:nvPr/>
        </p:nvSpPr>
        <p:spPr>
          <a:xfrm xmlns:a="http://schemas.openxmlformats.org/drawingml/2006/main">
            <a:off x="7143750" y="1524000"/>
            <a:ext cx="3238500" cy="2857500"/>
          </a:xfrm>
          <a:prstGeom xmlns:a="http://schemas.openxmlformats.org/drawingml/2006/main" prst="roundRect">
            <a:avLst>
              <a:gd name="adj" fmla="val 5333"/>
            </a:avLst>
          </a:prstGeom>
          <a:solidFill xmlns:a="http://schemas.openxmlformats.org/drawingml/2006/main">
            <a:srgbClr val="081A30"/>
          </a:solidFill>
          <a:ln xmlns:a="http://schemas.openxmlformats.org/drawingml/2006/main" w="11430">
            <a:solidFill>
              <a:srgbClr val="1D466A"/>
            </a:solidFill>
            <a:prstDash val="solid"/>
          </a:ln>
        </p:spPr>
      </p:sp>
      <p:sp>
        <p:nvSpPr>
          <p:cNvPr id="8" name="">
            <a:extLst xmlns:a="http://schemas.openxmlformats.org/drawingml/2006/main">
              <a:ext uri="{FF2B5EF4-FFF2-40B4-BE49-F238E27FC236}">
                <a16:creationId xmlns:a16="http://schemas.microsoft.com/office/drawing/2014/main" id="{374208A2-AFE5-42B9-AFBD-F41524350EEA}"/>
              </a:ext>
            </a:extLst>
          </p:cNvPr>
          <p:cNvSpPr>
            <a:spLocks xmlns:a="http://schemas.openxmlformats.org/drawingml/2006/main" noGrp="1"/>
          </p:cNvSpPr>
          <p:nvPr/>
        </p:nvSpPr>
        <p:spPr>
          <a:xfrm xmlns:a="http://schemas.openxmlformats.org/drawingml/2006/main">
            <a:off x="7715250" y="21907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3150" b="1" i="0">
                <a:solidFill>
                  <a:srgbClr val="F8FBFF"/>
                </a:solidFill>
              </a:defRPr>
            </a:defPPr>
          </a:lstStyle>
          <a:p xmlns:a="http://schemas.openxmlformats.org/drawingml/2006/main">
            <a:pPr algn="ctr">
              <a:defRPr sz="3150" b="1" i="0">
                <a:solidFill>
                  <a:srgbClr val="F8FBFF"/>
                </a:solidFill>
              </a:defRPr>
            </a:pPr>
            <a:r>
              <a:rPr sz="3150" b="1" i="0">
                <a:solidFill>
                  <a:srgbClr val="F8FBFF"/>
                </a:solidFill>
              </a:rPr>
              <a:t>Thank You</a:t>
            </a:r>
          </a:p>
        </p:txBody>
      </p:sp>
      <p:sp>
        <p:nvSpPr>
          <p:cNvPr id="9" name="">
            <a:extLst xmlns:a="http://schemas.openxmlformats.org/drawingml/2006/main">
              <a:ext uri="{FF2B5EF4-FFF2-40B4-BE49-F238E27FC236}">
                <a16:creationId xmlns:a16="http://schemas.microsoft.com/office/drawing/2014/main" id="{CEA77227-38A5-4F46-A8E6-3645690F650B}"/>
              </a:ext>
            </a:extLst>
          </p:cNvPr>
          <p:cNvSpPr>
            <a:spLocks xmlns:a="http://schemas.openxmlformats.org/drawingml/2006/main" noGrp="1"/>
          </p:cNvSpPr>
          <p:nvPr/>
        </p:nvSpPr>
        <p:spPr>
          <a:xfrm xmlns:a="http://schemas.openxmlformats.org/drawingml/2006/main">
            <a:off x="8001000" y="2914650"/>
            <a:ext cx="1524000" cy="38100"/>
          </a:xfrm>
          <a:prstGeom xmlns:a="http://schemas.openxmlformats.org/drawingml/2006/main" prst="rect">
            <a:avLst/>
          </a:prstGeom>
          <a:solidFill xmlns:a="http://schemas.openxmlformats.org/drawingml/2006/main">
            <a:srgbClr val="18C6E8"/>
          </a:solidFill>
          <a:ln xmlns:a="http://schemas.openxmlformats.org/drawingml/2006/main" w="0">
            <a:solidFill>
              <a:srgbClr val="18C6E8"/>
            </a:solidFill>
            <a:prstDash val="solid"/>
          </a:ln>
        </p:spPr>
      </p:sp>
      <p:sp>
        <p:nvSpPr>
          <p:cNvPr id="10" name="">
            <a:extLst xmlns:a="http://schemas.openxmlformats.org/drawingml/2006/main">
              <a:ext uri="{FF2B5EF4-FFF2-40B4-BE49-F238E27FC236}">
                <a16:creationId xmlns:a16="http://schemas.microsoft.com/office/drawing/2014/main" id="{5FFE9DF2-5DC7-4A90-A70F-639ED492ECE7}"/>
              </a:ext>
            </a:extLst>
          </p:cNvPr>
          <p:cNvSpPr>
            <a:spLocks xmlns:a="http://schemas.openxmlformats.org/drawingml/2006/main" noGrp="1"/>
          </p:cNvSpPr>
          <p:nvPr/>
        </p:nvSpPr>
        <p:spPr>
          <a:xfrm xmlns:a="http://schemas.openxmlformats.org/drawingml/2006/main">
            <a:off x="7762875" y="32385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250" b="1" i="0">
                <a:solidFill>
                  <a:srgbClr val="18C6E8"/>
                </a:solidFill>
              </a:defRPr>
            </a:defPPr>
          </a:lstStyle>
          <a:p xmlns:a="http://schemas.openxmlformats.org/drawingml/2006/main">
            <a:pPr algn="ctr">
              <a:defRPr sz="2250" b="1" i="0">
                <a:solidFill>
                  <a:srgbClr val="18C6E8"/>
                </a:solidFill>
              </a:defRPr>
            </a:pPr>
            <a:r>
              <a:rPr sz="2250" b="1" i="0">
                <a:solidFill>
                  <a:srgbClr val="18C6E8"/>
                </a:solidFill>
              </a:rPr>
              <a:t>Questions?</a:t>
            </a:r>
          </a:p>
        </p:txBody>
      </p:sp>
    </p:spTree>
    <p:extLst>
      <p:ext uri="{BB962C8B-B14F-4D97-AF65-F5344CB8AC3E}">
        <p14:creationId xmlns:p14="http://schemas.microsoft.com/office/powerpoint/2010/main" val="12343922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2026-10-09T18:20:31.6190000Z</dcterms:created>
  <dcterms:modified xsi:type="dcterms:W3CDTF">2026-10-09T18:20:31.6190000Z</dcterms:modified>
</coreProperties>
</file>